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Good morning everyone. Today we move from requirements to concrete interface decisions. Last week we discussed what users need and how to define GUI requirements. This week we discuss how those requirements appear on the screen through navigation, menus, windows, input controls, colours, and graphical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Before we start, these are the outcomes for today. I want you to leave this lecture able to explain navigation, windows, controls, colour, and visual hierarchy. More importantly, I want you to use these ideas in your own Project 1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Last week, we said that requirements describe what the user needs. Today we take the next step. We ask: if this is the requirement, what should the interface look like? Where does the user click first? Which window appears? Which control is appropriate? What feedback is given after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 can simplify today’s topic into four building blocks. Navigation tells users where they can go. Windows organize work and system states. Controls let users act. The visual layer makes the structure understandable. If one of these is weak, the whole interface becomes harder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When students design navigation, they often think only about menus. But navigation is broader. It answers basic user questions. Where am I? Where can I go? How do I return? Which action matters most now? If the interface does not answer these questions, users will feel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There is no single best menu type for every system. Top navigation is simple but limited. Sidebars support larger systems. Tabs work inside one context. Breadcrumbs show hierarchy. Bottom navigation works well on mobile. Context menus save space but can hide actions. The important question is: which pattern supports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Now let us discuss windows. A main window gives the user a stable workspace. A dialog or modal interrupts the flow, so we should use it only when the user must make a decision or provide focused input. Side panels are useful for supporting information. Notifications should be short and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Controls are not interchangeable. If the user must type an unknown value, we use a text field. If the values are predefined, a list or dropdown is better. If multiple options can be selected independently, checkboxes are appropriate. If only one option can be selected, radio buttons are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Feedback is one of the most important parts of interaction. If a user clicks a button and nothing appears to happen, they may click again, cancel, or lose trust. Feedback can be success, warning, error, or progress. Good error messages are especially important. They should explain what happened and how to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Colour has meaning. Users often expect green to mean success, red to mean error, and yellow or orange to mean warning. But colour must also be readable. If contrast is weak, students may have a beautiful screen that is still difficult to use. Also, using too many colours makes the interface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Graphic elements are not just decoration. Icons, images, spacing, and hierarchy help users scan the interface. A good question is: what should the user see first, second, and third? If everything is emphasized, then nothing is emphasized.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These are common mistakes I want you to avoid in your project. Do not hide important actions. Do not use different words for the same action. Do not overload one window. Do not leave users without feedback. And do not use colours randomly.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Project 1, I do not want only a drawing of a screen. I want you to show design thinking. What is the user task? What navigation structure supports it? What controls are needed? Which action is primary? What colours and icons support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Now we will do a short activity. Work in pairs. Look at one screen from your Project 1 idea. Do not only say whether it looks good or bad. Use the checklist. What is the task? What is the navigation? Which control is used? What feedback is visible? Then improve one part and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Before we finish, let me summarize today. Navigation helps users understand where they are and where they can go. Windows and dialogs structure attention. Controls allow users to act. Colour and graphic elements make the interface easier to understand. For next week, revise your Project 1 wireframe. Add clear navigation, window structure, suitable controls and feedback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E42"/>
        </a:solidFill>
      </p:bgPr>
    </p:bg>
    <p:spTree>
      <p:nvGrpSpPr>
        <p:cNvPr id="1" name=""/>
        <p:cNvGrpSpPr/>
        <p:nvPr/>
      </p:nvGrpSpPr>
      <p:grpSpPr>
        <a:xfrm>
          <a:off x="0" y="0"/>
          <a:ext cx="0" cy="0"/>
          <a:chOff x="0" y="0"/>
          <a:chExt cx="0" cy="0"/>
        </a:xfrm>
      </p:grpSpPr>
      <p:sp>
        <p:nvSpPr>
          <p:cNvPr id="2" name="Text 0"/>
          <p:cNvSpPr/>
          <p:nvPr/>
        </p:nvSpPr>
        <p:spPr>
          <a:xfrm>
            <a:off x="502920" y="411480"/>
            <a:ext cx="685800" cy="182880"/>
          </a:xfrm>
          <a:prstGeom prst="rect">
            <a:avLst/>
          </a:prstGeom>
          <a:solidFill>
            <a:srgbClr val="E8F3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94360" y="1234440"/>
            <a:ext cx="4297680" cy="105156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Navigation, Windows</a:t>
            </a:r>
            <a:endParaRPr lang="en-US" sz="2500" dirty="0"/>
          </a:p>
          <a:p>
            <a:pPr indent="0" marL="0">
              <a:buNone/>
            </a:pPr>
            <a:r>
              <a:rPr lang="en-US" sz="2500" b="1" dirty="0">
                <a:solidFill>
                  <a:srgbClr val="FFFFFF"/>
                </a:solidFill>
                <a:latin typeface="Aptos Display" pitchFamily="34" charset="0"/>
                <a:ea typeface="Aptos Display" pitchFamily="34" charset="-122"/>
                <a:cs typeface="Aptos Display" pitchFamily="34" charset="-120"/>
              </a:rPr>
              <a:t>and Visual Design</a:t>
            </a:r>
            <a:endParaRPr lang="en-US" sz="2500" dirty="0"/>
          </a:p>
        </p:txBody>
      </p:sp>
      <p:sp>
        <p:nvSpPr>
          <p:cNvPr id="4" name="Text 2"/>
          <p:cNvSpPr/>
          <p:nvPr/>
        </p:nvSpPr>
        <p:spPr>
          <a:xfrm>
            <a:off x="594360" y="2423160"/>
            <a:ext cx="3840480" cy="228600"/>
          </a:xfrm>
          <a:prstGeom prst="rect">
            <a:avLst/>
          </a:prstGeom>
          <a:noFill/>
          <a:ln/>
        </p:spPr>
        <p:txBody>
          <a:bodyPr wrap="square" lIns="0" tIns="0" rIns="0" bIns="0" rtlCol="0" anchor="ctr"/>
          <a:lstStyle/>
          <a:p>
            <a:pPr indent="0" marL="0">
              <a:buNone/>
            </a:pPr>
            <a:r>
              <a:rPr lang="en-US" sz="1050" dirty="0">
                <a:solidFill>
                  <a:srgbClr val="D8E8F4"/>
                </a:solidFill>
              </a:rPr>
              <a:t>User Interface Programming</a:t>
            </a:r>
            <a:endParaRPr lang="en-US" sz="1050" dirty="0"/>
          </a:p>
        </p:txBody>
      </p:sp>
      <p:sp>
        <p:nvSpPr>
          <p:cNvPr id="5" name="Text 3"/>
          <p:cNvSpPr/>
          <p:nvPr/>
        </p:nvSpPr>
        <p:spPr>
          <a:xfrm>
            <a:off x="594360" y="2852928"/>
            <a:ext cx="4206240" cy="292608"/>
          </a:xfrm>
          <a:prstGeom prst="rect">
            <a:avLst/>
          </a:prstGeom>
          <a:noFill/>
          <a:ln/>
        </p:spPr>
        <p:txBody>
          <a:bodyPr wrap="square" lIns="0" tIns="0" rIns="0" bIns="0" rtlCol="0" anchor="ctr"/>
          <a:lstStyle/>
          <a:p>
            <a:pPr indent="0" marL="0">
              <a:buNone/>
            </a:pPr>
            <a:r>
              <a:rPr lang="en-US" sz="1150" b="1" dirty="0">
                <a:solidFill>
                  <a:srgbClr val="D8E8F4"/>
                </a:solidFill>
              </a:rPr>
              <a:t>From requirements to visible interface components</a:t>
            </a:r>
            <a:endParaRPr lang="en-US" sz="1150" dirty="0"/>
          </a:p>
        </p:txBody>
      </p:sp>
      <p:sp>
        <p:nvSpPr>
          <p:cNvPr id="6" name="Text 4"/>
          <p:cNvSpPr/>
          <p:nvPr/>
        </p:nvSpPr>
        <p:spPr>
          <a:xfrm>
            <a:off x="594360" y="6236208"/>
            <a:ext cx="2743200" cy="182880"/>
          </a:xfrm>
          <a:prstGeom prst="rect">
            <a:avLst/>
          </a:prstGeom>
          <a:noFill/>
          <a:ln/>
        </p:spPr>
        <p:txBody>
          <a:bodyPr wrap="square" lIns="0" tIns="0" rIns="0" bIns="0" rtlCol="0" anchor="ctr"/>
          <a:lstStyle/>
          <a:p>
            <a:pPr indent="0" marL="0">
              <a:buNone/>
            </a:pPr>
            <a:r>
              <a:rPr lang="en-US" sz="650" dirty="0">
                <a:solidFill>
                  <a:srgbClr val="B6C8D6"/>
                </a:solidFill>
              </a:rPr>
              <a:t>Mehmet Akif Cifci</a:t>
            </a:r>
            <a:endParaRPr lang="en-US" sz="650" dirty="0"/>
          </a:p>
        </p:txBody>
      </p:sp>
      <p:pic>
        <p:nvPicPr>
          <p:cNvPr id="7" name="Image 0" descr="/mnt/data/wide_clean_vector_flat_illustration_of_a_ux_navig.png">    </p:cNvPr>
          <p:cNvPicPr>
            <a:picLocks noChangeAspect="1"/>
          </p:cNvPicPr>
          <p:nvPr/>
        </p:nvPicPr>
        <p:blipFill>
          <a:blip r:embed="rId1"/>
          <a:srcRect l="15385" r="15385" t="0" b="0"/>
          <a:stretch/>
        </p:blipFill>
        <p:spPr>
          <a:xfrm>
            <a:off x="5257800" y="502920"/>
            <a:ext cx="6355080" cy="5166360"/>
          </a:xfrm>
          <a:prstGeom prst="rect">
            <a:avLst/>
          </a:prstGeom>
        </p:spPr>
      </p:pic>
      <p:sp>
        <p:nvSpPr>
          <p:cNvPr id="8" name="Text 5"/>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9" name="Text 6"/>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1</a:t>
            </a:r>
            <a:endParaRPr lang="en-US" sz="5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Today's learning outcomes</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By the end of this session, students should be able to connect interface requirements with screen-level design choices.</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2</a:t>
            </a:r>
            <a:endParaRPr lang="en-US" sz="580" dirty="0"/>
          </a:p>
        </p:txBody>
      </p:sp>
      <p:sp>
        <p:nvSpPr>
          <p:cNvPr id="8" name="Text 6"/>
          <p:cNvSpPr/>
          <p:nvPr/>
        </p:nvSpPr>
        <p:spPr>
          <a:xfrm>
            <a:off x="777240" y="1691640"/>
            <a:ext cx="9966960" cy="256032"/>
          </a:xfrm>
          <a:prstGeom prst="rect">
            <a:avLst/>
          </a:prstGeom>
          <a:solidFill>
            <a:srgbClr val="FFFFFF"/>
          </a:solidFill>
          <a:ln>
            <a:solidFill>
              <a:srgbClr val="DDE7F2"/>
            </a:solidFill>
          </a:ln>
        </p:spPr>
        <p:txBody>
          <a:bodyPr wrap="square" rtlCol="0" anchor="ctr">
            <a:normAutofit/>
          </a:bodyPr>
          <a:lstStyle/>
          <a:p>
            <a:pPr indent="0" marL="0">
              <a:buNone/>
            </a:pPr>
            <a:r>
              <a:rPr lang="en-US" sz="1050" b="1" dirty="0">
                <a:solidFill>
                  <a:srgbClr val="112E42"/>
                </a:solidFill>
              </a:rPr>
              <a:t>1. Explain navigation structures</a:t>
            </a:r>
            <a:endParaRPr lang="en-US" sz="1050" dirty="0"/>
          </a:p>
        </p:txBody>
      </p:sp>
      <p:sp>
        <p:nvSpPr>
          <p:cNvPr id="9" name="Text 7"/>
          <p:cNvSpPr/>
          <p:nvPr/>
        </p:nvSpPr>
        <p:spPr>
          <a:xfrm>
            <a:off x="777240" y="1965960"/>
            <a:ext cx="9966960" cy="274320"/>
          </a:xfrm>
          <a:prstGeom prst="rect">
            <a:avLst/>
          </a:prstGeom>
          <a:solidFill>
            <a:srgbClr val="FFFFFF"/>
          </a:solidFill>
          <a:ln>
            <a:solidFill>
              <a:srgbClr val="DDE7F2"/>
            </a:solidFill>
          </a:ln>
        </p:spPr>
        <p:txBody>
          <a:bodyPr wrap="square" rtlCol="0" anchor="ctr">
            <a:normAutofit/>
          </a:bodyPr>
          <a:lstStyle/>
          <a:p>
            <a:pPr indent="0" marL="0">
              <a:buNone/>
            </a:pPr>
            <a:r>
              <a:rPr lang="en-US" sz="820" dirty="0">
                <a:solidFill>
                  <a:srgbClr val="4E5D6B"/>
                </a:solidFill>
              </a:rPr>
              <a:t>Describe how menus, sidebars, tabs, breadcrumbs and bottom navigation guide users.</a:t>
            </a:r>
            <a:endParaRPr lang="en-US" sz="820" dirty="0"/>
          </a:p>
        </p:txBody>
      </p:sp>
      <p:sp>
        <p:nvSpPr>
          <p:cNvPr id="10" name="Text 8"/>
          <p:cNvSpPr/>
          <p:nvPr/>
        </p:nvSpPr>
        <p:spPr>
          <a:xfrm>
            <a:off x="777240" y="2350008"/>
            <a:ext cx="9966960" cy="256032"/>
          </a:xfrm>
          <a:prstGeom prst="rect">
            <a:avLst/>
          </a:prstGeom>
          <a:solidFill>
            <a:srgbClr val="DFF1E6"/>
          </a:solidFill>
          <a:ln>
            <a:solidFill>
              <a:srgbClr val="DDE7F2"/>
            </a:solidFill>
          </a:ln>
        </p:spPr>
        <p:txBody>
          <a:bodyPr wrap="square" rtlCol="0" anchor="ctr">
            <a:normAutofit/>
          </a:bodyPr>
          <a:lstStyle/>
          <a:p>
            <a:pPr indent="0" marL="0">
              <a:buNone/>
            </a:pPr>
            <a:r>
              <a:rPr lang="en-US" sz="1050" b="1" dirty="0">
                <a:solidFill>
                  <a:srgbClr val="112E42"/>
                </a:solidFill>
              </a:rPr>
              <a:t>2. Design program windows</a:t>
            </a:r>
            <a:endParaRPr lang="en-US" sz="1050" dirty="0"/>
          </a:p>
        </p:txBody>
      </p:sp>
      <p:sp>
        <p:nvSpPr>
          <p:cNvPr id="11" name="Text 9"/>
          <p:cNvSpPr/>
          <p:nvPr/>
        </p:nvSpPr>
        <p:spPr>
          <a:xfrm>
            <a:off x="777240" y="2624328"/>
            <a:ext cx="9966960" cy="274320"/>
          </a:xfrm>
          <a:prstGeom prst="rect">
            <a:avLst/>
          </a:prstGeom>
          <a:solidFill>
            <a:srgbClr val="DFF1E6"/>
          </a:solidFill>
          <a:ln>
            <a:solidFill>
              <a:srgbClr val="DDE7F2"/>
            </a:solidFill>
          </a:ln>
        </p:spPr>
        <p:txBody>
          <a:bodyPr wrap="square" rtlCol="0" anchor="ctr">
            <a:normAutofit/>
          </a:bodyPr>
          <a:lstStyle/>
          <a:p>
            <a:pPr indent="0" marL="0">
              <a:buNone/>
            </a:pPr>
            <a:r>
              <a:rPr lang="en-US" sz="820" dirty="0">
                <a:solidFill>
                  <a:srgbClr val="4E5D6B"/>
                </a:solidFill>
              </a:rPr>
              <a:t>Identify the role of main windows, dialogs, modals, panels and notifications.</a:t>
            </a:r>
            <a:endParaRPr lang="en-US" sz="820" dirty="0"/>
          </a:p>
        </p:txBody>
      </p:sp>
      <p:sp>
        <p:nvSpPr>
          <p:cNvPr id="12" name="Text 10"/>
          <p:cNvSpPr/>
          <p:nvPr/>
        </p:nvSpPr>
        <p:spPr>
          <a:xfrm>
            <a:off x="777240" y="3008376"/>
            <a:ext cx="9966960" cy="256032"/>
          </a:xfrm>
          <a:prstGeom prst="rect">
            <a:avLst/>
          </a:prstGeom>
          <a:solidFill>
            <a:srgbClr val="FFF5D4"/>
          </a:solidFill>
          <a:ln>
            <a:solidFill>
              <a:srgbClr val="DDE7F2"/>
            </a:solidFill>
          </a:ln>
        </p:spPr>
        <p:txBody>
          <a:bodyPr wrap="square" rtlCol="0" anchor="ctr">
            <a:normAutofit/>
          </a:bodyPr>
          <a:lstStyle/>
          <a:p>
            <a:pPr indent="0" marL="0">
              <a:buNone/>
            </a:pPr>
            <a:r>
              <a:rPr lang="en-US" sz="1050" b="1" dirty="0">
                <a:solidFill>
                  <a:srgbClr val="112E42"/>
                </a:solidFill>
              </a:rPr>
              <a:t>3. Select input and control objects</a:t>
            </a:r>
            <a:endParaRPr lang="en-US" sz="1050" dirty="0"/>
          </a:p>
        </p:txBody>
      </p:sp>
      <p:sp>
        <p:nvSpPr>
          <p:cNvPr id="13" name="Text 11"/>
          <p:cNvSpPr/>
          <p:nvPr/>
        </p:nvSpPr>
        <p:spPr>
          <a:xfrm>
            <a:off x="777240" y="3282696"/>
            <a:ext cx="9966960" cy="274320"/>
          </a:xfrm>
          <a:prstGeom prst="rect">
            <a:avLst/>
          </a:prstGeom>
          <a:solidFill>
            <a:srgbClr val="FFF5D4"/>
          </a:solidFill>
          <a:ln>
            <a:solidFill>
              <a:srgbClr val="DDE7F2"/>
            </a:solidFill>
          </a:ln>
        </p:spPr>
        <p:txBody>
          <a:bodyPr wrap="square" rtlCol="0" anchor="ctr">
            <a:normAutofit/>
          </a:bodyPr>
          <a:lstStyle/>
          <a:p>
            <a:pPr indent="0" marL="0">
              <a:buNone/>
            </a:pPr>
            <a:r>
              <a:rPr lang="en-US" sz="820" dirty="0">
                <a:solidFill>
                  <a:srgbClr val="4E5D6B"/>
                </a:solidFill>
              </a:rPr>
              <a:t>Choose text fields, buttons, lists, check boxes, radio buttons, sliders and other controls.</a:t>
            </a:r>
            <a:endParaRPr lang="en-US" sz="820" dirty="0"/>
          </a:p>
        </p:txBody>
      </p:sp>
      <p:sp>
        <p:nvSpPr>
          <p:cNvPr id="14" name="Text 12"/>
          <p:cNvSpPr/>
          <p:nvPr/>
        </p:nvSpPr>
        <p:spPr>
          <a:xfrm>
            <a:off x="777240" y="3666744"/>
            <a:ext cx="9966960" cy="256032"/>
          </a:xfrm>
          <a:prstGeom prst="rect">
            <a:avLst/>
          </a:prstGeom>
          <a:solidFill>
            <a:srgbClr val="FFFFFF"/>
          </a:solidFill>
          <a:ln>
            <a:solidFill>
              <a:srgbClr val="DDE7F2"/>
            </a:solidFill>
          </a:ln>
        </p:spPr>
        <p:txBody>
          <a:bodyPr wrap="square" rtlCol="0" anchor="ctr">
            <a:normAutofit/>
          </a:bodyPr>
          <a:lstStyle/>
          <a:p>
            <a:pPr indent="0" marL="0">
              <a:buNone/>
            </a:pPr>
            <a:r>
              <a:rPr lang="en-US" sz="1050" b="1" dirty="0">
                <a:solidFill>
                  <a:srgbClr val="112E42"/>
                </a:solidFill>
              </a:rPr>
              <a:t>4. Apply colour and visual principles</a:t>
            </a:r>
            <a:endParaRPr lang="en-US" sz="1050" dirty="0"/>
          </a:p>
        </p:txBody>
      </p:sp>
      <p:sp>
        <p:nvSpPr>
          <p:cNvPr id="15" name="Text 13"/>
          <p:cNvSpPr/>
          <p:nvPr/>
        </p:nvSpPr>
        <p:spPr>
          <a:xfrm>
            <a:off x="777240" y="3941064"/>
            <a:ext cx="9966960" cy="274320"/>
          </a:xfrm>
          <a:prstGeom prst="rect">
            <a:avLst/>
          </a:prstGeom>
          <a:solidFill>
            <a:srgbClr val="FFFFFF"/>
          </a:solidFill>
          <a:ln>
            <a:solidFill>
              <a:srgbClr val="DDE7F2"/>
            </a:solidFill>
          </a:ln>
        </p:spPr>
        <p:txBody>
          <a:bodyPr wrap="square" rtlCol="0" anchor="ctr">
            <a:normAutofit/>
          </a:bodyPr>
          <a:lstStyle/>
          <a:p>
            <a:pPr indent="0" marL="0">
              <a:buNone/>
            </a:pPr>
            <a:r>
              <a:rPr lang="en-US" sz="820" dirty="0">
                <a:solidFill>
                  <a:srgbClr val="4E5D6B"/>
                </a:solidFill>
              </a:rPr>
              <a:t>Use colour, contrast, spacing, hierarchy and graphic elements to support interaction.</a:t>
            </a:r>
            <a:endParaRPr lang="en-US" sz="820" dirty="0"/>
          </a:p>
        </p:txBody>
      </p:sp>
      <p:sp>
        <p:nvSpPr>
          <p:cNvPr id="16" name="Text 14"/>
          <p:cNvSpPr/>
          <p:nvPr/>
        </p:nvSpPr>
        <p:spPr>
          <a:xfrm>
            <a:off x="777240" y="4325112"/>
            <a:ext cx="9966960" cy="256032"/>
          </a:xfrm>
          <a:prstGeom prst="rect">
            <a:avLst/>
          </a:prstGeom>
          <a:solidFill>
            <a:srgbClr val="FFFFFF"/>
          </a:solidFill>
          <a:ln>
            <a:solidFill>
              <a:srgbClr val="DDE7F2"/>
            </a:solidFill>
          </a:ln>
        </p:spPr>
        <p:txBody>
          <a:bodyPr wrap="square" rtlCol="0" anchor="ctr">
            <a:normAutofit/>
          </a:bodyPr>
          <a:lstStyle/>
          <a:p>
            <a:pPr indent="0" marL="0">
              <a:buNone/>
            </a:pPr>
            <a:r>
              <a:rPr lang="en-US" sz="1050" b="1" dirty="0">
                <a:solidFill>
                  <a:srgbClr val="112E42"/>
                </a:solidFill>
              </a:rPr>
              <a:t>5. Extend Project 1</a:t>
            </a:r>
            <a:endParaRPr lang="en-US" sz="1050" dirty="0"/>
          </a:p>
        </p:txBody>
      </p:sp>
      <p:sp>
        <p:nvSpPr>
          <p:cNvPr id="17" name="Text 15"/>
          <p:cNvSpPr/>
          <p:nvPr/>
        </p:nvSpPr>
        <p:spPr>
          <a:xfrm>
            <a:off x="777240" y="4599432"/>
            <a:ext cx="9966960" cy="274320"/>
          </a:xfrm>
          <a:prstGeom prst="rect">
            <a:avLst/>
          </a:prstGeom>
          <a:solidFill>
            <a:srgbClr val="FFFFFF"/>
          </a:solidFill>
          <a:ln>
            <a:solidFill>
              <a:srgbClr val="DDE7F2"/>
            </a:solidFill>
          </a:ln>
        </p:spPr>
        <p:txBody>
          <a:bodyPr wrap="square" rtlCol="0" anchor="ctr">
            <a:normAutofit/>
          </a:bodyPr>
          <a:lstStyle/>
          <a:p>
            <a:pPr indent="0" marL="0">
              <a:buNone/>
            </a:pPr>
            <a:r>
              <a:rPr lang="en-US" sz="820" dirty="0">
                <a:solidFill>
                  <a:srgbClr val="4E5D6B"/>
                </a:solidFill>
              </a:rPr>
              <a:t>Convert requirements into a first structured interface layout.</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From requirements to screen structure</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A requirement becomes useful only when it is translated into a clear interface decision.</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3</a:t>
            </a:r>
            <a:endParaRPr lang="en-US" sz="580" dirty="0"/>
          </a:p>
        </p:txBody>
      </p:sp>
      <p:pic>
        <p:nvPicPr>
          <p:cNvPr id="8" name="Image 0" descr="/mnt/data/wide_clean_flat_vector_illustration_of_a_user_jour.png">    </p:cNvPr>
          <p:cNvPicPr>
            <a:picLocks noChangeAspect="1"/>
          </p:cNvPicPr>
          <p:nvPr/>
        </p:nvPicPr>
        <p:blipFill>
          <a:blip r:embed="rId1"/>
          <a:srcRect l="0" r="0" t="2516" b="2516"/>
          <a:stretch/>
        </p:blipFill>
        <p:spPr>
          <a:xfrm>
            <a:off x="5989320" y="1783080"/>
            <a:ext cx="5303520" cy="2834640"/>
          </a:xfrm>
          <a:prstGeom prst="rect">
            <a:avLst/>
          </a:prstGeom>
        </p:spPr>
      </p:pic>
      <p:sp>
        <p:nvSpPr>
          <p:cNvPr id="9" name="Text 6"/>
          <p:cNvSpPr/>
          <p:nvPr/>
        </p:nvSpPr>
        <p:spPr>
          <a:xfrm>
            <a:off x="685800" y="1783080"/>
            <a:ext cx="457200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Requirement</a:t>
            </a:r>
            <a:endParaRPr lang="en-US" sz="1050" dirty="0"/>
          </a:p>
        </p:txBody>
      </p:sp>
      <p:sp>
        <p:nvSpPr>
          <p:cNvPr id="10" name="Text 7"/>
          <p:cNvSpPr/>
          <p:nvPr/>
        </p:nvSpPr>
        <p:spPr>
          <a:xfrm>
            <a:off x="685800" y="2112264"/>
            <a:ext cx="4572000" cy="512064"/>
          </a:xfrm>
          <a:prstGeom prst="rect">
            <a:avLst/>
          </a:prstGeom>
          <a:solidFill>
            <a:srgbClr val="FFFFFF"/>
          </a:solidFill>
          <a:ln>
            <a:solidFill>
              <a:srgbClr val="FFFF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A user needs to complete a task, such as submitting a form, finding a record, or checking status.</a:t>
            </a:r>
            <a:endParaRPr lang="en-US" sz="860" dirty="0"/>
          </a:p>
        </p:txBody>
      </p:sp>
      <p:sp>
        <p:nvSpPr>
          <p:cNvPr id="11" name="Shape 8"/>
          <p:cNvSpPr/>
          <p:nvPr/>
        </p:nvSpPr>
        <p:spPr>
          <a:xfrm>
            <a:off x="685800" y="2084832"/>
            <a:ext cx="4572000" cy="0"/>
          </a:xfrm>
          <a:prstGeom prst="line">
            <a:avLst/>
          </a:prstGeom>
          <a:noFill/>
          <a:ln w="15240">
            <a:solidFill>
              <a:srgbClr val="2E6FD8">
                <a:alpha val="90000"/>
              </a:srgbClr>
            </a:solidFill>
            <a:prstDash val="solid"/>
          </a:ln>
        </p:spPr>
      </p:sp>
      <p:sp>
        <p:nvSpPr>
          <p:cNvPr id="12" name="Text 9"/>
          <p:cNvSpPr/>
          <p:nvPr/>
        </p:nvSpPr>
        <p:spPr>
          <a:xfrm>
            <a:off x="685800" y="2788920"/>
            <a:ext cx="4572000" cy="292608"/>
          </a:xfrm>
          <a:prstGeom prst="rect">
            <a:avLst/>
          </a:prstGeom>
          <a:solidFill>
            <a:srgbClr val="FFF5D4"/>
          </a:solidFill>
          <a:ln>
            <a:solidFill>
              <a:srgbClr val="FFF5D4"/>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Interface decision</a:t>
            </a:r>
            <a:endParaRPr lang="en-US" sz="1050" dirty="0"/>
          </a:p>
        </p:txBody>
      </p:sp>
      <p:sp>
        <p:nvSpPr>
          <p:cNvPr id="13" name="Text 10"/>
          <p:cNvSpPr/>
          <p:nvPr/>
        </p:nvSpPr>
        <p:spPr>
          <a:xfrm>
            <a:off x="685800" y="3118104"/>
            <a:ext cx="4572000" cy="512064"/>
          </a:xfrm>
          <a:prstGeom prst="rect">
            <a:avLst/>
          </a:prstGeom>
          <a:solidFill>
            <a:srgbClr val="FFF5D4"/>
          </a:solidFill>
          <a:ln>
            <a:solidFill>
              <a:srgbClr val="FFF5D4"/>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The design specifies where the task starts, what controls are used, and what feedback appears.</a:t>
            </a:r>
            <a:endParaRPr lang="en-US" sz="860" dirty="0"/>
          </a:p>
        </p:txBody>
      </p:sp>
      <p:sp>
        <p:nvSpPr>
          <p:cNvPr id="14" name="Shape 11"/>
          <p:cNvSpPr/>
          <p:nvPr/>
        </p:nvSpPr>
        <p:spPr>
          <a:xfrm>
            <a:off x="685800" y="3090672"/>
            <a:ext cx="4572000" cy="0"/>
          </a:xfrm>
          <a:prstGeom prst="line">
            <a:avLst/>
          </a:prstGeom>
          <a:noFill/>
          <a:ln w="15240">
            <a:solidFill>
              <a:srgbClr val="F2A65A">
                <a:alpha val="90000"/>
              </a:srgbClr>
            </a:solidFill>
            <a:prstDash val="solid"/>
          </a:ln>
        </p:spPr>
      </p:sp>
      <p:sp>
        <p:nvSpPr>
          <p:cNvPr id="15" name="Text 12"/>
          <p:cNvSpPr/>
          <p:nvPr/>
        </p:nvSpPr>
        <p:spPr>
          <a:xfrm>
            <a:off x="685800" y="3794760"/>
            <a:ext cx="4572000" cy="292608"/>
          </a:xfrm>
          <a:prstGeom prst="rect">
            <a:avLst/>
          </a:prstGeom>
          <a:solidFill>
            <a:srgbClr val="DFF1E6"/>
          </a:solidFill>
          <a:ln>
            <a:solidFill>
              <a:srgbClr val="DFF1E6"/>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Visible structure</a:t>
            </a:r>
            <a:endParaRPr lang="en-US" sz="1050" dirty="0"/>
          </a:p>
        </p:txBody>
      </p:sp>
      <p:sp>
        <p:nvSpPr>
          <p:cNvPr id="16" name="Text 13"/>
          <p:cNvSpPr/>
          <p:nvPr/>
        </p:nvSpPr>
        <p:spPr>
          <a:xfrm>
            <a:off x="685800" y="4123944"/>
            <a:ext cx="4572000" cy="512064"/>
          </a:xfrm>
          <a:prstGeom prst="rect">
            <a:avLst/>
          </a:prstGeom>
          <a:solidFill>
            <a:srgbClr val="DFF1E6"/>
          </a:solidFill>
          <a:ln>
            <a:solidFill>
              <a:srgbClr val="DFF1E6"/>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The final screen includes navigation, windows, input controls, colours, icons and messages.</a:t>
            </a:r>
            <a:endParaRPr lang="en-US" sz="860" dirty="0"/>
          </a:p>
        </p:txBody>
      </p:sp>
      <p:sp>
        <p:nvSpPr>
          <p:cNvPr id="17" name="Shape 14"/>
          <p:cNvSpPr/>
          <p:nvPr/>
        </p:nvSpPr>
        <p:spPr>
          <a:xfrm>
            <a:off x="685800" y="4096512"/>
            <a:ext cx="4572000" cy="0"/>
          </a:xfrm>
          <a:prstGeom prst="line">
            <a:avLst/>
          </a:prstGeom>
          <a:noFill/>
          <a:ln w="15240">
            <a:solidFill>
              <a:srgbClr val="5C8A6B">
                <a:alpha val="90000"/>
              </a:srgbClr>
            </a:solidFill>
            <a:prstDash val="solid"/>
          </a:ln>
        </p:spPr>
      </p:sp>
      <p:sp>
        <p:nvSpPr>
          <p:cNvPr id="18" name="Text 15"/>
          <p:cNvSpPr/>
          <p:nvPr/>
        </p:nvSpPr>
        <p:spPr>
          <a:xfrm>
            <a:off x="2286000" y="5532120"/>
            <a:ext cx="7315200" cy="384048"/>
          </a:xfrm>
          <a:prstGeom prst="rect">
            <a:avLst/>
          </a:prstGeom>
          <a:solidFill>
            <a:srgbClr val="EEF6FF"/>
          </a:solidFill>
          <a:ln>
            <a:solidFill>
              <a:srgbClr val="EEF6FF"/>
            </a:solidFill>
          </a:ln>
        </p:spPr>
        <p:txBody>
          <a:bodyPr wrap="square" rtlCol="0" anchor="ctr">
            <a:normAutofit/>
          </a:bodyPr>
          <a:lstStyle/>
          <a:p>
            <a:pPr algn="ctr" indent="0" marL="0">
              <a:buNone/>
            </a:pPr>
            <a:r>
              <a:rPr lang="en-US" sz="1050" b="1" dirty="0">
                <a:solidFill>
                  <a:srgbClr val="112E42"/>
                </a:solidFill>
                <a:latin typeface="Aptos" pitchFamily="34" charset="0"/>
                <a:ea typeface="Aptos" pitchFamily="34" charset="-122"/>
                <a:cs typeface="Aptos" pitchFamily="34" charset="-120"/>
              </a:rPr>
              <a:t>Design rule: every screen element should answer a real user need.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Four visible building blocks of GUI design</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Most application interfaces combine navigation, windows, controls and visual presentation.</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4</a:t>
            </a:r>
            <a:endParaRPr lang="en-US" sz="580" dirty="0"/>
          </a:p>
        </p:txBody>
      </p:sp>
      <p:sp>
        <p:nvSpPr>
          <p:cNvPr id="8" name="Text 6"/>
          <p:cNvSpPr/>
          <p:nvPr/>
        </p:nvSpPr>
        <p:spPr>
          <a:xfrm>
            <a:off x="594360" y="1737360"/>
            <a:ext cx="2651760" cy="292608"/>
          </a:xfrm>
          <a:prstGeom prst="rect">
            <a:avLst/>
          </a:prstGeom>
          <a:solidFill>
            <a:srgbClr val="EEF6FF"/>
          </a:solidFill>
          <a:ln>
            <a:solidFill>
              <a:srgbClr val="EEF6FF"/>
            </a:solidFill>
          </a:ln>
        </p:spPr>
        <p:txBody>
          <a:bodyPr wrap="square" rtlCol="0" anchor="ctr">
            <a:normAutofit/>
          </a:bodyPr>
          <a:lstStyle/>
          <a:p>
            <a:pPr indent="0" marL="0">
              <a:buNone/>
            </a:pPr>
            <a:r>
              <a:rPr lang="en-US" sz="1100" b="1" dirty="0">
                <a:solidFill>
                  <a:srgbClr val="112E42"/>
                </a:solidFill>
                <a:latin typeface="Aptos" pitchFamily="34" charset="0"/>
                <a:ea typeface="Aptos" pitchFamily="34" charset="-122"/>
                <a:cs typeface="Aptos" pitchFamily="34" charset="-120"/>
              </a:rPr>
              <a:t>Navigation</a:t>
            </a:r>
            <a:endParaRPr lang="en-US" sz="1100" dirty="0"/>
          </a:p>
        </p:txBody>
      </p:sp>
      <p:sp>
        <p:nvSpPr>
          <p:cNvPr id="9" name="Text 7"/>
          <p:cNvSpPr/>
          <p:nvPr/>
        </p:nvSpPr>
        <p:spPr>
          <a:xfrm>
            <a:off x="594360" y="2066544"/>
            <a:ext cx="2651760" cy="1956816"/>
          </a:xfrm>
          <a:prstGeom prst="rect">
            <a:avLst/>
          </a:prstGeom>
          <a:solidFill>
            <a:srgbClr val="EEF6FF"/>
          </a:solidFill>
          <a:ln>
            <a:solidFill>
              <a:srgbClr val="EEF6FF"/>
            </a:solidFill>
          </a:ln>
        </p:spPr>
        <p:txBody>
          <a:bodyPr wrap="square" rtlCol="0" anchor="t">
            <a:normAutofit/>
          </a:bodyPr>
          <a:lstStyle/>
          <a:p>
            <a:pPr indent="0" marL="0">
              <a:buNone/>
            </a:pPr>
            <a:r>
              <a:rPr lang="en-US" sz="900" dirty="0">
                <a:solidFill>
                  <a:srgbClr val="4E5D6B"/>
                </a:solidFill>
                <a:latin typeface="Aptos" pitchFamily="34" charset="0"/>
                <a:ea typeface="Aptos" pitchFamily="34" charset="-122"/>
                <a:cs typeface="Aptos" pitchFamily="34" charset="-120"/>
              </a:rPr>
              <a:t>Menus, sidebars, tabs, breadcrumbs, links, bottom navigation and search.</a:t>
            </a:r>
            <a:endParaRPr lang="en-US" sz="900" dirty="0"/>
          </a:p>
        </p:txBody>
      </p:sp>
      <p:sp>
        <p:nvSpPr>
          <p:cNvPr id="10" name="Shape 8"/>
          <p:cNvSpPr/>
          <p:nvPr/>
        </p:nvSpPr>
        <p:spPr>
          <a:xfrm>
            <a:off x="594360" y="2039112"/>
            <a:ext cx="2651760" cy="0"/>
          </a:xfrm>
          <a:prstGeom prst="line">
            <a:avLst/>
          </a:prstGeom>
          <a:noFill/>
          <a:ln w="15240">
            <a:solidFill>
              <a:srgbClr val="2E6FD8">
                <a:alpha val="90000"/>
              </a:srgbClr>
            </a:solidFill>
            <a:prstDash val="solid"/>
          </a:ln>
        </p:spPr>
      </p:sp>
      <p:sp>
        <p:nvSpPr>
          <p:cNvPr id="11" name="Text 9"/>
          <p:cNvSpPr/>
          <p:nvPr/>
        </p:nvSpPr>
        <p:spPr>
          <a:xfrm>
            <a:off x="3429000" y="1737360"/>
            <a:ext cx="2651760" cy="292608"/>
          </a:xfrm>
          <a:prstGeom prst="rect">
            <a:avLst/>
          </a:prstGeom>
          <a:solidFill>
            <a:srgbClr val="DFF1E6"/>
          </a:solidFill>
          <a:ln>
            <a:solidFill>
              <a:srgbClr val="DFF1E6"/>
            </a:solidFill>
          </a:ln>
        </p:spPr>
        <p:txBody>
          <a:bodyPr wrap="square" rtlCol="0" anchor="ctr">
            <a:normAutofit/>
          </a:bodyPr>
          <a:lstStyle/>
          <a:p>
            <a:pPr indent="0" marL="0">
              <a:buNone/>
            </a:pPr>
            <a:r>
              <a:rPr lang="en-US" sz="1100" b="1" dirty="0">
                <a:solidFill>
                  <a:srgbClr val="112E42"/>
                </a:solidFill>
                <a:latin typeface="Aptos" pitchFamily="34" charset="0"/>
                <a:ea typeface="Aptos" pitchFamily="34" charset="-122"/>
                <a:cs typeface="Aptos" pitchFamily="34" charset="-120"/>
              </a:rPr>
              <a:t>Windows</a:t>
            </a:r>
            <a:endParaRPr lang="en-US" sz="1100" dirty="0"/>
          </a:p>
        </p:txBody>
      </p:sp>
      <p:sp>
        <p:nvSpPr>
          <p:cNvPr id="12" name="Text 10"/>
          <p:cNvSpPr/>
          <p:nvPr/>
        </p:nvSpPr>
        <p:spPr>
          <a:xfrm>
            <a:off x="3429000" y="2066544"/>
            <a:ext cx="2651760" cy="1956816"/>
          </a:xfrm>
          <a:prstGeom prst="rect">
            <a:avLst/>
          </a:prstGeom>
          <a:solidFill>
            <a:srgbClr val="DFF1E6"/>
          </a:solidFill>
          <a:ln>
            <a:solidFill>
              <a:srgbClr val="DFF1E6"/>
            </a:solidFill>
          </a:ln>
        </p:spPr>
        <p:txBody>
          <a:bodyPr wrap="square" rtlCol="0" anchor="t">
            <a:normAutofit/>
          </a:bodyPr>
          <a:lstStyle/>
          <a:p>
            <a:pPr indent="0" marL="0">
              <a:buNone/>
            </a:pPr>
            <a:r>
              <a:rPr lang="en-US" sz="900" dirty="0">
                <a:solidFill>
                  <a:srgbClr val="4E5D6B"/>
                </a:solidFill>
                <a:latin typeface="Aptos" pitchFamily="34" charset="0"/>
                <a:ea typeface="Aptos" pitchFamily="34" charset="-122"/>
                <a:cs typeface="Aptos" pitchFamily="34" charset="-120"/>
              </a:rPr>
              <a:t>Main windows, dialogs, modal windows, panels, tool windows and notifications.</a:t>
            </a:r>
            <a:endParaRPr lang="en-US" sz="900" dirty="0"/>
          </a:p>
        </p:txBody>
      </p:sp>
      <p:sp>
        <p:nvSpPr>
          <p:cNvPr id="13" name="Shape 11"/>
          <p:cNvSpPr/>
          <p:nvPr/>
        </p:nvSpPr>
        <p:spPr>
          <a:xfrm>
            <a:off x="3429000" y="2039112"/>
            <a:ext cx="2651760" cy="0"/>
          </a:xfrm>
          <a:prstGeom prst="line">
            <a:avLst/>
          </a:prstGeom>
          <a:noFill/>
          <a:ln w="15240">
            <a:solidFill>
              <a:srgbClr val="5C8A6B">
                <a:alpha val="90000"/>
              </a:srgbClr>
            </a:solidFill>
            <a:prstDash val="solid"/>
          </a:ln>
        </p:spPr>
      </p:sp>
      <p:sp>
        <p:nvSpPr>
          <p:cNvPr id="14" name="Text 12"/>
          <p:cNvSpPr/>
          <p:nvPr/>
        </p:nvSpPr>
        <p:spPr>
          <a:xfrm>
            <a:off x="6263640" y="1737360"/>
            <a:ext cx="2651760" cy="292608"/>
          </a:xfrm>
          <a:prstGeom prst="rect">
            <a:avLst/>
          </a:prstGeom>
          <a:solidFill>
            <a:srgbClr val="FFF5D4"/>
          </a:solidFill>
          <a:ln>
            <a:solidFill>
              <a:srgbClr val="FFF5D4"/>
            </a:solidFill>
          </a:ln>
        </p:spPr>
        <p:txBody>
          <a:bodyPr wrap="square" rtlCol="0" anchor="ctr">
            <a:normAutofit/>
          </a:bodyPr>
          <a:lstStyle/>
          <a:p>
            <a:pPr indent="0" marL="0">
              <a:buNone/>
            </a:pPr>
            <a:r>
              <a:rPr lang="en-US" sz="1100" b="1" dirty="0">
                <a:solidFill>
                  <a:srgbClr val="112E42"/>
                </a:solidFill>
                <a:latin typeface="Aptos" pitchFamily="34" charset="0"/>
                <a:ea typeface="Aptos" pitchFamily="34" charset="-122"/>
                <a:cs typeface="Aptos" pitchFamily="34" charset="-120"/>
              </a:rPr>
              <a:t>Controls</a:t>
            </a:r>
            <a:endParaRPr lang="en-US" sz="1100" dirty="0"/>
          </a:p>
        </p:txBody>
      </p:sp>
      <p:sp>
        <p:nvSpPr>
          <p:cNvPr id="15" name="Text 13"/>
          <p:cNvSpPr/>
          <p:nvPr/>
        </p:nvSpPr>
        <p:spPr>
          <a:xfrm>
            <a:off x="6263640" y="2066544"/>
            <a:ext cx="2651760" cy="1956816"/>
          </a:xfrm>
          <a:prstGeom prst="rect">
            <a:avLst/>
          </a:prstGeom>
          <a:solidFill>
            <a:srgbClr val="FFF5D4"/>
          </a:solidFill>
          <a:ln>
            <a:solidFill>
              <a:srgbClr val="FFF5D4"/>
            </a:solidFill>
          </a:ln>
        </p:spPr>
        <p:txBody>
          <a:bodyPr wrap="square" rtlCol="0" anchor="t">
            <a:normAutofit/>
          </a:bodyPr>
          <a:lstStyle/>
          <a:p>
            <a:pPr indent="0" marL="0">
              <a:buNone/>
            </a:pPr>
            <a:r>
              <a:rPr lang="en-US" sz="900" dirty="0">
                <a:solidFill>
                  <a:srgbClr val="4E5D6B"/>
                </a:solidFill>
                <a:latin typeface="Aptos" pitchFamily="34" charset="0"/>
                <a:ea typeface="Aptos" pitchFamily="34" charset="-122"/>
                <a:cs typeface="Aptos" pitchFamily="34" charset="-120"/>
              </a:rPr>
              <a:t>Buttons, fields, lists, check boxes, radio buttons, toggles, sliders and tables.</a:t>
            </a:r>
            <a:endParaRPr lang="en-US" sz="900" dirty="0"/>
          </a:p>
        </p:txBody>
      </p:sp>
      <p:sp>
        <p:nvSpPr>
          <p:cNvPr id="16" name="Shape 14"/>
          <p:cNvSpPr/>
          <p:nvPr/>
        </p:nvSpPr>
        <p:spPr>
          <a:xfrm>
            <a:off x="6263640" y="2039112"/>
            <a:ext cx="2651760" cy="0"/>
          </a:xfrm>
          <a:prstGeom prst="line">
            <a:avLst/>
          </a:prstGeom>
          <a:noFill/>
          <a:ln w="15240">
            <a:solidFill>
              <a:srgbClr val="F2A65A">
                <a:alpha val="90000"/>
              </a:srgbClr>
            </a:solidFill>
            <a:prstDash val="solid"/>
          </a:ln>
        </p:spPr>
      </p:sp>
      <p:sp>
        <p:nvSpPr>
          <p:cNvPr id="17" name="Text 15"/>
          <p:cNvSpPr/>
          <p:nvPr/>
        </p:nvSpPr>
        <p:spPr>
          <a:xfrm>
            <a:off x="9098280" y="1737360"/>
            <a:ext cx="2423160" cy="292608"/>
          </a:xfrm>
          <a:prstGeom prst="rect">
            <a:avLst/>
          </a:prstGeom>
          <a:solidFill>
            <a:srgbClr val="F1EEFF"/>
          </a:solidFill>
          <a:ln>
            <a:solidFill>
              <a:srgbClr val="F1EEFF"/>
            </a:solidFill>
          </a:ln>
        </p:spPr>
        <p:txBody>
          <a:bodyPr wrap="square" rtlCol="0" anchor="ctr">
            <a:normAutofit/>
          </a:bodyPr>
          <a:lstStyle/>
          <a:p>
            <a:pPr indent="0" marL="0">
              <a:buNone/>
            </a:pPr>
            <a:r>
              <a:rPr lang="en-US" sz="1100" b="1" dirty="0">
                <a:solidFill>
                  <a:srgbClr val="112E42"/>
                </a:solidFill>
                <a:latin typeface="Aptos" pitchFamily="34" charset="0"/>
                <a:ea typeface="Aptos" pitchFamily="34" charset="-122"/>
                <a:cs typeface="Aptos" pitchFamily="34" charset="-120"/>
              </a:rPr>
              <a:t>Visual layer</a:t>
            </a:r>
            <a:endParaRPr lang="en-US" sz="1100" dirty="0"/>
          </a:p>
        </p:txBody>
      </p:sp>
      <p:sp>
        <p:nvSpPr>
          <p:cNvPr id="18" name="Text 16"/>
          <p:cNvSpPr/>
          <p:nvPr/>
        </p:nvSpPr>
        <p:spPr>
          <a:xfrm>
            <a:off x="9098280" y="2066544"/>
            <a:ext cx="2423160" cy="1956816"/>
          </a:xfrm>
          <a:prstGeom prst="rect">
            <a:avLst/>
          </a:prstGeom>
          <a:solidFill>
            <a:srgbClr val="F1EEFF"/>
          </a:solidFill>
          <a:ln>
            <a:solidFill>
              <a:srgbClr val="F1EEFF"/>
            </a:solidFill>
          </a:ln>
        </p:spPr>
        <p:txBody>
          <a:bodyPr wrap="square" rtlCol="0" anchor="t">
            <a:normAutofit/>
          </a:bodyPr>
          <a:lstStyle/>
          <a:p>
            <a:pPr indent="0" marL="0">
              <a:buNone/>
            </a:pPr>
            <a:r>
              <a:rPr lang="en-US" sz="900" dirty="0">
                <a:solidFill>
                  <a:srgbClr val="4E5D6B"/>
                </a:solidFill>
                <a:latin typeface="Aptos" pitchFamily="34" charset="0"/>
                <a:ea typeface="Aptos" pitchFamily="34" charset="-122"/>
                <a:cs typeface="Aptos" pitchFamily="34" charset="-120"/>
              </a:rPr>
              <a:t>Colour, typography, spacing, icons, images, grouping and hierarchy.</a:t>
            </a:r>
            <a:endParaRPr lang="en-US" sz="900" dirty="0"/>
          </a:p>
        </p:txBody>
      </p:sp>
      <p:sp>
        <p:nvSpPr>
          <p:cNvPr id="19" name="Shape 17"/>
          <p:cNvSpPr/>
          <p:nvPr/>
        </p:nvSpPr>
        <p:spPr>
          <a:xfrm>
            <a:off x="9098280" y="2039112"/>
            <a:ext cx="2423160" cy="0"/>
          </a:xfrm>
          <a:prstGeom prst="line">
            <a:avLst/>
          </a:prstGeom>
          <a:noFill/>
          <a:ln w="15240">
            <a:solidFill>
              <a:srgbClr val="7C6ACB">
                <a:alpha val="90000"/>
              </a:srgbClr>
            </a:solidFill>
            <a:prstDash val="solid"/>
          </a:ln>
        </p:spPr>
      </p:sp>
      <p:sp>
        <p:nvSpPr>
          <p:cNvPr id="20" name="Text 18"/>
          <p:cNvSpPr/>
          <p:nvPr/>
        </p:nvSpPr>
        <p:spPr>
          <a:xfrm>
            <a:off x="1874520" y="4983480"/>
            <a:ext cx="8321040" cy="502920"/>
          </a:xfrm>
          <a:prstGeom prst="rect">
            <a:avLst/>
          </a:prstGeom>
          <a:solidFill>
            <a:srgbClr val="112E42"/>
          </a:solidFill>
          <a:ln>
            <a:solidFill>
              <a:srgbClr val="112E42"/>
            </a:solidFill>
          </a:ln>
        </p:spPr>
        <p:txBody>
          <a:bodyPr wrap="square"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Good interface design is not decoration. It is task structure made visible.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Navigation: helping users know where they are</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Navigation is not just movement between pages. It also communicates structure, priority and context.</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5</a:t>
            </a:r>
            <a:endParaRPr lang="en-US" sz="580" dirty="0"/>
          </a:p>
        </p:txBody>
      </p:sp>
      <p:pic>
        <p:nvPicPr>
          <p:cNvPr id="8" name="Image 0" descr="/mnt/data/wide_clean_vector_flat_illustration_of_a_ux_navig_batch_1.png">    </p:cNvPr>
          <p:cNvPicPr>
            <a:picLocks noChangeAspect="1"/>
          </p:cNvPicPr>
          <p:nvPr/>
        </p:nvPicPr>
        <p:blipFill>
          <a:blip r:embed="rId1"/>
          <a:srcRect l="3607" r="3607" t="0" b="0"/>
          <a:stretch/>
        </p:blipFill>
        <p:spPr>
          <a:xfrm>
            <a:off x="5486400" y="1719072"/>
            <a:ext cx="5577840" cy="3383280"/>
          </a:xfrm>
          <a:prstGeom prst="rect">
            <a:avLst/>
          </a:prstGeom>
        </p:spPr>
      </p:pic>
      <p:sp>
        <p:nvSpPr>
          <p:cNvPr id="9" name="Text 6"/>
          <p:cNvSpPr/>
          <p:nvPr/>
        </p:nvSpPr>
        <p:spPr>
          <a:xfrm>
            <a:off x="822960" y="1874520"/>
            <a:ext cx="4023360" cy="2011680"/>
          </a:xfrm>
          <a:prstGeom prst="rect">
            <a:avLst/>
          </a:prstGeom>
          <a:noFill/>
          <a:ln/>
        </p:spPr>
        <p:txBody>
          <a:bodyPr wrap="square" rtlCol="0" anchor="t">
            <a:normAutofit/>
          </a:bodyPr>
          <a:lstStyle/>
          <a:p>
            <a:pPr indent="0" marL="0">
              <a:buNone/>
            </a:pPr>
            <a:r>
              <a:rPr lang="en-US" sz="1300" dirty="0">
                <a:solidFill>
                  <a:srgbClr val="112E42"/>
                </a:solidFill>
                <a:latin typeface="Aptos" pitchFamily="34" charset="0"/>
                <a:ea typeface="Aptos" pitchFamily="34" charset="-122"/>
                <a:cs typeface="Aptos" pitchFamily="34" charset="-120"/>
              </a:rPr>
              <a:t>• Where am I now?
</a:t>
            </a:r>
            <a:pPr indent="0" marL="0">
              <a:buNone/>
            </a:pPr>
            <a:r>
              <a:rPr lang="en-US" sz="1300" dirty="0">
                <a:solidFill>
                  <a:srgbClr val="112E42"/>
                </a:solidFill>
                <a:latin typeface="Aptos" pitchFamily="34" charset="0"/>
                <a:ea typeface="Aptos" pitchFamily="34" charset="-122"/>
                <a:cs typeface="Aptos" pitchFamily="34" charset="-120"/>
              </a:rPr>
              <a:t>• Where can I go next?
</a:t>
            </a:r>
            <a:pPr indent="0" marL="0">
              <a:buNone/>
            </a:pPr>
            <a:r>
              <a:rPr lang="en-US" sz="1300" dirty="0">
                <a:solidFill>
                  <a:srgbClr val="112E42"/>
                </a:solidFill>
                <a:latin typeface="Aptos" pitchFamily="34" charset="0"/>
                <a:ea typeface="Aptos" pitchFamily="34" charset="-122"/>
                <a:cs typeface="Aptos" pitchFamily="34" charset="-120"/>
              </a:rPr>
              <a:t>• How do I return or undo?
</a:t>
            </a:r>
            <a:pPr indent="0" marL="0">
              <a:buNone/>
            </a:pPr>
            <a:r>
              <a:rPr lang="en-US" sz="1300" dirty="0">
                <a:solidFill>
                  <a:srgbClr val="112E42"/>
                </a:solidFill>
                <a:latin typeface="Aptos" pitchFamily="34" charset="0"/>
                <a:ea typeface="Aptos" pitchFamily="34" charset="-122"/>
                <a:cs typeface="Aptos" pitchFamily="34" charset="-120"/>
              </a:rPr>
              <a:t>• Which action is primary?
</a:t>
            </a:r>
            <a:pPr indent="0" marL="0">
              <a:buNone/>
            </a:pPr>
            <a:r>
              <a:rPr lang="en-US" sz="1300" dirty="0">
                <a:solidFill>
                  <a:srgbClr val="112E42"/>
                </a:solidFill>
                <a:latin typeface="Aptos" pitchFamily="34" charset="0"/>
                <a:ea typeface="Aptos" pitchFamily="34" charset="-122"/>
                <a:cs typeface="Aptos" pitchFamily="34" charset="-120"/>
              </a:rPr>
              <a:t>• What has already been completed?</a:t>
            </a:r>
            <a:endParaRPr lang="en-US" sz="1300" dirty="0"/>
          </a:p>
        </p:txBody>
      </p:sp>
      <p:sp>
        <p:nvSpPr>
          <p:cNvPr id="10" name="Text 7"/>
          <p:cNvSpPr/>
          <p:nvPr/>
        </p:nvSpPr>
        <p:spPr>
          <a:xfrm>
            <a:off x="868680" y="4663440"/>
            <a:ext cx="3931920" cy="502920"/>
          </a:xfrm>
          <a:prstGeom prst="rect">
            <a:avLst/>
          </a:prstGeom>
          <a:solidFill>
            <a:srgbClr val="DFF1E6"/>
          </a:solidFill>
          <a:ln>
            <a:solidFill>
              <a:srgbClr val="DFF1E6"/>
            </a:solidFill>
          </a:ln>
        </p:spPr>
        <p:txBody>
          <a:bodyPr wrap="square" rtlCol="0" anchor="ctr">
            <a:normAutofit/>
          </a:bodyPr>
          <a:lstStyle/>
          <a:p>
            <a:pPr algn="ctr" indent="0" marL="0">
              <a:buNone/>
            </a:pPr>
            <a:r>
              <a:rPr lang="en-US" sz="1050" b="1" dirty="0">
                <a:solidFill>
                  <a:srgbClr val="112E42"/>
                </a:solidFill>
                <a:latin typeface="Aptos" pitchFamily="34" charset="0"/>
                <a:ea typeface="Aptos" pitchFamily="34" charset="-122"/>
                <a:cs typeface="Aptos" pitchFamily="34" charset="-120"/>
              </a:rPr>
              <a:t>Navigation should reduce thinking, not increase it.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Menu and navigation types</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The correct navigation pattern depends on the task, device, information depth and user frequency.</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6</a:t>
            </a:r>
            <a:endParaRPr lang="en-US" sz="580" dirty="0"/>
          </a:p>
        </p:txBody>
      </p:sp>
      <p:sp>
        <p:nvSpPr>
          <p:cNvPr id="8" name="Text 6"/>
          <p:cNvSpPr/>
          <p:nvPr/>
        </p:nvSpPr>
        <p:spPr>
          <a:xfrm>
            <a:off x="640080" y="1737360"/>
            <a:ext cx="2743200" cy="292608"/>
          </a:xfrm>
          <a:prstGeom prst="rect">
            <a:avLst/>
          </a:prstGeom>
          <a:solidFill>
            <a:srgbClr val="EEF6FF"/>
          </a:solidFill>
          <a:ln>
            <a:solidFill>
              <a:srgbClr val="EEF6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Top navigation</a:t>
            </a:r>
            <a:endParaRPr lang="en-US" sz="1050" dirty="0"/>
          </a:p>
        </p:txBody>
      </p:sp>
      <p:sp>
        <p:nvSpPr>
          <p:cNvPr id="9" name="Text 7"/>
          <p:cNvSpPr/>
          <p:nvPr/>
        </p:nvSpPr>
        <p:spPr>
          <a:xfrm>
            <a:off x="640080" y="2066544"/>
            <a:ext cx="2743200" cy="749808"/>
          </a:xfrm>
          <a:prstGeom prst="rect">
            <a:avLst/>
          </a:prstGeom>
          <a:solidFill>
            <a:srgbClr val="EEF6FF"/>
          </a:solidFill>
          <a:ln>
            <a:solidFill>
              <a:srgbClr val="EEF6FF"/>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Good for a small number of major sections. Common on websites and dashboards.</a:t>
            </a:r>
            <a:endParaRPr lang="en-US" sz="820" dirty="0"/>
          </a:p>
        </p:txBody>
      </p:sp>
      <p:sp>
        <p:nvSpPr>
          <p:cNvPr id="10" name="Shape 8"/>
          <p:cNvSpPr/>
          <p:nvPr/>
        </p:nvSpPr>
        <p:spPr>
          <a:xfrm>
            <a:off x="640080" y="2039112"/>
            <a:ext cx="2743200" cy="0"/>
          </a:xfrm>
          <a:prstGeom prst="line">
            <a:avLst/>
          </a:prstGeom>
          <a:noFill/>
          <a:ln w="15240">
            <a:solidFill>
              <a:srgbClr val="2E6FD8">
                <a:alpha val="90000"/>
              </a:srgbClr>
            </a:solidFill>
            <a:prstDash val="solid"/>
          </a:ln>
        </p:spPr>
      </p:sp>
      <p:sp>
        <p:nvSpPr>
          <p:cNvPr id="11" name="Text 9"/>
          <p:cNvSpPr/>
          <p:nvPr/>
        </p:nvSpPr>
        <p:spPr>
          <a:xfrm>
            <a:off x="3593592" y="1737360"/>
            <a:ext cx="2743200" cy="292608"/>
          </a:xfrm>
          <a:prstGeom prst="rect">
            <a:avLst/>
          </a:prstGeom>
          <a:solidFill>
            <a:srgbClr val="DFF1E6"/>
          </a:solidFill>
          <a:ln>
            <a:solidFill>
              <a:srgbClr val="DFF1E6"/>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Sidebar navigation</a:t>
            </a:r>
            <a:endParaRPr lang="en-US" sz="1050" dirty="0"/>
          </a:p>
        </p:txBody>
      </p:sp>
      <p:sp>
        <p:nvSpPr>
          <p:cNvPr id="12" name="Text 10"/>
          <p:cNvSpPr/>
          <p:nvPr/>
        </p:nvSpPr>
        <p:spPr>
          <a:xfrm>
            <a:off x="3593592" y="2066544"/>
            <a:ext cx="2743200" cy="749808"/>
          </a:xfrm>
          <a:prstGeom prst="rect">
            <a:avLst/>
          </a:prstGeom>
          <a:solidFill>
            <a:srgbClr val="DFF1E6"/>
          </a:solidFill>
          <a:ln>
            <a:solidFill>
              <a:srgbClr val="DFF1E6"/>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Useful when many sections exist or when users need stable access to tools.</a:t>
            </a:r>
            <a:endParaRPr lang="en-US" sz="820" dirty="0"/>
          </a:p>
        </p:txBody>
      </p:sp>
      <p:sp>
        <p:nvSpPr>
          <p:cNvPr id="13" name="Shape 11"/>
          <p:cNvSpPr/>
          <p:nvPr/>
        </p:nvSpPr>
        <p:spPr>
          <a:xfrm>
            <a:off x="3593592" y="2039112"/>
            <a:ext cx="2743200" cy="0"/>
          </a:xfrm>
          <a:prstGeom prst="line">
            <a:avLst/>
          </a:prstGeom>
          <a:noFill/>
          <a:ln w="15240">
            <a:solidFill>
              <a:srgbClr val="5C8A6B">
                <a:alpha val="90000"/>
              </a:srgbClr>
            </a:solidFill>
            <a:prstDash val="solid"/>
          </a:ln>
        </p:spPr>
      </p:sp>
      <p:sp>
        <p:nvSpPr>
          <p:cNvPr id="14" name="Text 12"/>
          <p:cNvSpPr/>
          <p:nvPr/>
        </p:nvSpPr>
        <p:spPr>
          <a:xfrm>
            <a:off x="6547104" y="1737360"/>
            <a:ext cx="274320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Tabs</a:t>
            </a:r>
            <a:endParaRPr lang="en-US" sz="1050" dirty="0"/>
          </a:p>
        </p:txBody>
      </p:sp>
      <p:sp>
        <p:nvSpPr>
          <p:cNvPr id="15" name="Text 13"/>
          <p:cNvSpPr/>
          <p:nvPr/>
        </p:nvSpPr>
        <p:spPr>
          <a:xfrm>
            <a:off x="6547104" y="2066544"/>
            <a:ext cx="2743200" cy="749808"/>
          </a:xfrm>
          <a:prstGeom prst="rect">
            <a:avLst/>
          </a:prstGeom>
          <a:solidFill>
            <a:srgbClr val="FFFFFF"/>
          </a:solidFill>
          <a:ln>
            <a:solidFill>
              <a:srgbClr val="FFFFFF"/>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Suitable for related views inside the same context.</a:t>
            </a:r>
            <a:endParaRPr lang="en-US" sz="820" dirty="0"/>
          </a:p>
        </p:txBody>
      </p:sp>
      <p:sp>
        <p:nvSpPr>
          <p:cNvPr id="16" name="Shape 14"/>
          <p:cNvSpPr/>
          <p:nvPr/>
        </p:nvSpPr>
        <p:spPr>
          <a:xfrm>
            <a:off x="6547104" y="2039112"/>
            <a:ext cx="2743200" cy="0"/>
          </a:xfrm>
          <a:prstGeom prst="line">
            <a:avLst/>
          </a:prstGeom>
          <a:noFill/>
          <a:ln w="15240">
            <a:solidFill>
              <a:srgbClr val="F2A65A">
                <a:alpha val="90000"/>
              </a:srgbClr>
            </a:solidFill>
            <a:prstDash val="solid"/>
          </a:ln>
        </p:spPr>
      </p:sp>
      <p:sp>
        <p:nvSpPr>
          <p:cNvPr id="17" name="Text 15"/>
          <p:cNvSpPr/>
          <p:nvPr/>
        </p:nvSpPr>
        <p:spPr>
          <a:xfrm>
            <a:off x="640080" y="3136392"/>
            <a:ext cx="274320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Breadcrumbs</a:t>
            </a:r>
            <a:endParaRPr lang="en-US" sz="1050" dirty="0"/>
          </a:p>
        </p:txBody>
      </p:sp>
      <p:sp>
        <p:nvSpPr>
          <p:cNvPr id="18" name="Text 16"/>
          <p:cNvSpPr/>
          <p:nvPr/>
        </p:nvSpPr>
        <p:spPr>
          <a:xfrm>
            <a:off x="640080" y="3465576"/>
            <a:ext cx="2743200" cy="749808"/>
          </a:xfrm>
          <a:prstGeom prst="rect">
            <a:avLst/>
          </a:prstGeom>
          <a:solidFill>
            <a:srgbClr val="FFFFFF"/>
          </a:solidFill>
          <a:ln>
            <a:solidFill>
              <a:srgbClr val="FFFFFF"/>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Useful in deep structures where users move through hierarchy.</a:t>
            </a:r>
            <a:endParaRPr lang="en-US" sz="820" dirty="0"/>
          </a:p>
        </p:txBody>
      </p:sp>
      <p:sp>
        <p:nvSpPr>
          <p:cNvPr id="19" name="Shape 17"/>
          <p:cNvSpPr/>
          <p:nvPr/>
        </p:nvSpPr>
        <p:spPr>
          <a:xfrm>
            <a:off x="640080" y="3438144"/>
            <a:ext cx="2743200" cy="0"/>
          </a:xfrm>
          <a:prstGeom prst="line">
            <a:avLst/>
          </a:prstGeom>
          <a:noFill/>
          <a:ln w="15240">
            <a:solidFill>
              <a:srgbClr val="F2A65A">
                <a:alpha val="90000"/>
              </a:srgbClr>
            </a:solidFill>
            <a:prstDash val="solid"/>
          </a:ln>
        </p:spPr>
      </p:sp>
      <p:sp>
        <p:nvSpPr>
          <p:cNvPr id="20" name="Text 18"/>
          <p:cNvSpPr/>
          <p:nvPr/>
        </p:nvSpPr>
        <p:spPr>
          <a:xfrm>
            <a:off x="3593592" y="3136392"/>
            <a:ext cx="274320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Bottom navigation</a:t>
            </a:r>
            <a:endParaRPr lang="en-US" sz="1050" dirty="0"/>
          </a:p>
        </p:txBody>
      </p:sp>
      <p:sp>
        <p:nvSpPr>
          <p:cNvPr id="21" name="Text 19"/>
          <p:cNvSpPr/>
          <p:nvPr/>
        </p:nvSpPr>
        <p:spPr>
          <a:xfrm>
            <a:off x="3593592" y="3465576"/>
            <a:ext cx="2743200" cy="749808"/>
          </a:xfrm>
          <a:prstGeom prst="rect">
            <a:avLst/>
          </a:prstGeom>
          <a:solidFill>
            <a:srgbClr val="FFFFFF"/>
          </a:solidFill>
          <a:ln>
            <a:solidFill>
              <a:srgbClr val="FFFFFF"/>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Common on mobile apps with a few frequent destinations.</a:t>
            </a:r>
            <a:endParaRPr lang="en-US" sz="820" dirty="0"/>
          </a:p>
        </p:txBody>
      </p:sp>
      <p:sp>
        <p:nvSpPr>
          <p:cNvPr id="22" name="Shape 20"/>
          <p:cNvSpPr/>
          <p:nvPr/>
        </p:nvSpPr>
        <p:spPr>
          <a:xfrm>
            <a:off x="3593592" y="3438144"/>
            <a:ext cx="2743200" cy="0"/>
          </a:xfrm>
          <a:prstGeom prst="line">
            <a:avLst/>
          </a:prstGeom>
          <a:noFill/>
          <a:ln w="15240">
            <a:solidFill>
              <a:srgbClr val="F2A65A">
                <a:alpha val="90000"/>
              </a:srgbClr>
            </a:solidFill>
            <a:prstDash val="solid"/>
          </a:ln>
        </p:spPr>
      </p:sp>
      <p:sp>
        <p:nvSpPr>
          <p:cNvPr id="23" name="Text 21"/>
          <p:cNvSpPr/>
          <p:nvPr/>
        </p:nvSpPr>
        <p:spPr>
          <a:xfrm>
            <a:off x="6547104" y="3136392"/>
            <a:ext cx="274320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Context menus</a:t>
            </a:r>
            <a:endParaRPr lang="en-US" sz="1050" dirty="0"/>
          </a:p>
        </p:txBody>
      </p:sp>
      <p:sp>
        <p:nvSpPr>
          <p:cNvPr id="24" name="Text 22"/>
          <p:cNvSpPr/>
          <p:nvPr/>
        </p:nvSpPr>
        <p:spPr>
          <a:xfrm>
            <a:off x="6547104" y="3465576"/>
            <a:ext cx="2743200" cy="749808"/>
          </a:xfrm>
          <a:prstGeom prst="rect">
            <a:avLst/>
          </a:prstGeom>
          <a:solidFill>
            <a:srgbClr val="FFFFFF"/>
          </a:solidFill>
          <a:ln>
            <a:solidFill>
              <a:srgbClr val="FFFFFF"/>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Provide actions related to the selected object, but should not hide essential tasks.</a:t>
            </a:r>
            <a:endParaRPr lang="en-US" sz="820" dirty="0"/>
          </a:p>
        </p:txBody>
      </p:sp>
      <p:sp>
        <p:nvSpPr>
          <p:cNvPr id="25" name="Shape 23"/>
          <p:cNvSpPr/>
          <p:nvPr/>
        </p:nvSpPr>
        <p:spPr>
          <a:xfrm>
            <a:off x="6547104" y="3438144"/>
            <a:ext cx="2743200" cy="0"/>
          </a:xfrm>
          <a:prstGeom prst="line">
            <a:avLst/>
          </a:prstGeom>
          <a:noFill/>
          <a:ln w="15240">
            <a:solidFill>
              <a:srgbClr val="F2A65A">
                <a:alpha val="90000"/>
              </a:srgbClr>
            </a:solidFill>
            <a:prstDash val="solid"/>
          </a:ln>
        </p:spPr>
      </p:sp>
      <p:pic>
        <p:nvPicPr>
          <p:cNvPr id="26" name="Image 0" descr="/mnt/data/wide_clean_vector_flat_illustration_of_a_ux_navig.png">    </p:cNvPr>
          <p:cNvPicPr>
            <a:picLocks noChangeAspect="1"/>
          </p:cNvPicPr>
          <p:nvPr/>
        </p:nvPicPr>
        <p:blipFill>
          <a:blip r:embed="rId1"/>
          <a:srcRect l="24157" r="24157" t="0" b="0"/>
          <a:stretch/>
        </p:blipFill>
        <p:spPr>
          <a:xfrm>
            <a:off x="9372600" y="1965960"/>
            <a:ext cx="2057400" cy="2240280"/>
          </a:xfrm>
          <a:prstGeom prst="rect">
            <a:avLst/>
          </a:prstGeom>
        </p:spPr>
      </p:pic>
      <p:sp>
        <p:nvSpPr>
          <p:cNvPr id="27" name="Text 24"/>
          <p:cNvSpPr/>
          <p:nvPr/>
        </p:nvSpPr>
        <p:spPr>
          <a:xfrm>
            <a:off x="2240280" y="5440680"/>
            <a:ext cx="7680960" cy="384048"/>
          </a:xfrm>
          <a:prstGeom prst="rect">
            <a:avLst/>
          </a:prstGeom>
          <a:solidFill>
            <a:srgbClr val="FFF5D4"/>
          </a:solidFill>
          <a:ln>
            <a:solidFill>
              <a:srgbClr val="FFF5D4"/>
            </a:solidFill>
          </a:ln>
        </p:spPr>
        <p:txBody>
          <a:bodyPr wrap="square" rtlCol="0" anchor="ctr">
            <a:normAutofit/>
          </a:bodyPr>
          <a:lstStyle/>
          <a:p>
            <a:pPr algn="ctr" indent="0" marL="0">
              <a:buNone/>
            </a:pPr>
            <a:r>
              <a:rPr lang="en-US" sz="1050" b="1" dirty="0">
                <a:solidFill>
                  <a:srgbClr val="112E42"/>
                </a:solidFill>
                <a:latin typeface="Aptos" pitchFamily="34" charset="0"/>
                <a:ea typeface="Aptos" pitchFamily="34" charset="-122"/>
                <a:cs typeface="Aptos" pitchFamily="34" charset="-120"/>
              </a:rPr>
              <a:t>Choose navigation by user task, not by fashion.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Program windows: organizing attention and workflow</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Windows and dialogs should structure work without interrupting users unnecessarily.</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7</a:t>
            </a:r>
            <a:endParaRPr lang="en-US" sz="580" dirty="0"/>
          </a:p>
        </p:txBody>
      </p:sp>
      <p:pic>
        <p:nvPicPr>
          <p:cNvPr id="8" name="Image 0" descr="/mnt/data/wide_clean_vector_illustration_of_a_desktop_ui_com.png">    </p:cNvPr>
          <p:cNvPicPr>
            <a:picLocks noChangeAspect="1"/>
          </p:cNvPicPr>
          <p:nvPr/>
        </p:nvPicPr>
        <p:blipFill>
          <a:blip r:embed="rId1"/>
          <a:srcRect l="1395" r="1395" t="0" b="0"/>
          <a:stretch/>
        </p:blipFill>
        <p:spPr>
          <a:xfrm>
            <a:off x="685800" y="1783080"/>
            <a:ext cx="5212080" cy="3017520"/>
          </a:xfrm>
          <a:prstGeom prst="rect">
            <a:avLst/>
          </a:prstGeom>
        </p:spPr>
      </p:pic>
      <p:sp>
        <p:nvSpPr>
          <p:cNvPr id="9" name="Text 6"/>
          <p:cNvSpPr/>
          <p:nvPr/>
        </p:nvSpPr>
        <p:spPr>
          <a:xfrm>
            <a:off x="6355080" y="1783080"/>
            <a:ext cx="2286000" cy="292608"/>
          </a:xfrm>
          <a:prstGeom prst="rect">
            <a:avLst/>
          </a:prstGeom>
          <a:solidFill>
            <a:srgbClr val="EEF6FF"/>
          </a:solidFill>
          <a:ln>
            <a:solidFill>
              <a:srgbClr val="EEF6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Main window</a:t>
            </a:r>
            <a:endParaRPr lang="en-US" sz="1050" dirty="0"/>
          </a:p>
        </p:txBody>
      </p:sp>
      <p:sp>
        <p:nvSpPr>
          <p:cNvPr id="10" name="Text 7"/>
          <p:cNvSpPr/>
          <p:nvPr/>
        </p:nvSpPr>
        <p:spPr>
          <a:xfrm>
            <a:off x="6355080" y="2112264"/>
            <a:ext cx="2286000" cy="813816"/>
          </a:xfrm>
          <a:prstGeom prst="rect">
            <a:avLst/>
          </a:prstGeom>
          <a:solidFill>
            <a:srgbClr val="EEF6FF"/>
          </a:solidFill>
          <a:ln>
            <a:solidFill>
              <a:srgbClr val="EEF6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The stable workspace where users perform the primary task.</a:t>
            </a:r>
            <a:endParaRPr lang="en-US" sz="860" dirty="0"/>
          </a:p>
        </p:txBody>
      </p:sp>
      <p:sp>
        <p:nvSpPr>
          <p:cNvPr id="11" name="Shape 8"/>
          <p:cNvSpPr/>
          <p:nvPr/>
        </p:nvSpPr>
        <p:spPr>
          <a:xfrm>
            <a:off x="6355080" y="2084832"/>
            <a:ext cx="2286000" cy="0"/>
          </a:xfrm>
          <a:prstGeom prst="line">
            <a:avLst/>
          </a:prstGeom>
          <a:noFill/>
          <a:ln w="15240">
            <a:solidFill>
              <a:srgbClr val="2E6FD8">
                <a:alpha val="90000"/>
              </a:srgbClr>
            </a:solidFill>
            <a:prstDash val="solid"/>
          </a:ln>
        </p:spPr>
      </p:sp>
      <p:sp>
        <p:nvSpPr>
          <p:cNvPr id="12" name="Text 9"/>
          <p:cNvSpPr/>
          <p:nvPr/>
        </p:nvSpPr>
        <p:spPr>
          <a:xfrm>
            <a:off x="8915400" y="1783080"/>
            <a:ext cx="2286000" cy="292608"/>
          </a:xfrm>
          <a:prstGeom prst="rect">
            <a:avLst/>
          </a:prstGeom>
          <a:solidFill>
            <a:srgbClr val="FFF5D4"/>
          </a:solidFill>
          <a:ln>
            <a:solidFill>
              <a:srgbClr val="FFF5D4"/>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Dialog / modal</a:t>
            </a:r>
            <a:endParaRPr lang="en-US" sz="1050" dirty="0"/>
          </a:p>
        </p:txBody>
      </p:sp>
      <p:sp>
        <p:nvSpPr>
          <p:cNvPr id="13" name="Text 10"/>
          <p:cNvSpPr/>
          <p:nvPr/>
        </p:nvSpPr>
        <p:spPr>
          <a:xfrm>
            <a:off x="8915400" y="2112264"/>
            <a:ext cx="2286000" cy="813816"/>
          </a:xfrm>
          <a:prstGeom prst="rect">
            <a:avLst/>
          </a:prstGeom>
          <a:solidFill>
            <a:srgbClr val="FFF5D4"/>
          </a:solidFill>
          <a:ln>
            <a:solidFill>
              <a:srgbClr val="FFF5D4"/>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A temporary space for focused input, confirmation, or important decisions.</a:t>
            </a:r>
            <a:endParaRPr lang="en-US" sz="860" dirty="0"/>
          </a:p>
        </p:txBody>
      </p:sp>
      <p:sp>
        <p:nvSpPr>
          <p:cNvPr id="14" name="Shape 11"/>
          <p:cNvSpPr/>
          <p:nvPr/>
        </p:nvSpPr>
        <p:spPr>
          <a:xfrm>
            <a:off x="8915400" y="2084832"/>
            <a:ext cx="2286000" cy="0"/>
          </a:xfrm>
          <a:prstGeom prst="line">
            <a:avLst/>
          </a:prstGeom>
          <a:noFill/>
          <a:ln w="15240">
            <a:solidFill>
              <a:srgbClr val="F2A65A">
                <a:alpha val="90000"/>
              </a:srgbClr>
            </a:solidFill>
            <a:prstDash val="solid"/>
          </a:ln>
        </p:spPr>
      </p:sp>
      <p:sp>
        <p:nvSpPr>
          <p:cNvPr id="15" name="Text 12"/>
          <p:cNvSpPr/>
          <p:nvPr/>
        </p:nvSpPr>
        <p:spPr>
          <a:xfrm>
            <a:off x="6355080" y="3246120"/>
            <a:ext cx="2286000" cy="292608"/>
          </a:xfrm>
          <a:prstGeom prst="rect">
            <a:avLst/>
          </a:prstGeom>
          <a:solidFill>
            <a:srgbClr val="DFF1E6"/>
          </a:solidFill>
          <a:ln>
            <a:solidFill>
              <a:srgbClr val="DFF1E6"/>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Panel / sidebar</a:t>
            </a:r>
            <a:endParaRPr lang="en-US" sz="1050" dirty="0"/>
          </a:p>
        </p:txBody>
      </p:sp>
      <p:sp>
        <p:nvSpPr>
          <p:cNvPr id="16" name="Text 13"/>
          <p:cNvSpPr/>
          <p:nvPr/>
        </p:nvSpPr>
        <p:spPr>
          <a:xfrm>
            <a:off x="6355080" y="3575304"/>
            <a:ext cx="2286000" cy="813816"/>
          </a:xfrm>
          <a:prstGeom prst="rect">
            <a:avLst/>
          </a:prstGeom>
          <a:solidFill>
            <a:srgbClr val="DFF1E6"/>
          </a:solidFill>
          <a:ln>
            <a:solidFill>
              <a:srgbClr val="DFF1E6"/>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A secondary area for navigation, filters, details or settings.</a:t>
            </a:r>
            <a:endParaRPr lang="en-US" sz="860" dirty="0"/>
          </a:p>
        </p:txBody>
      </p:sp>
      <p:sp>
        <p:nvSpPr>
          <p:cNvPr id="17" name="Shape 14"/>
          <p:cNvSpPr/>
          <p:nvPr/>
        </p:nvSpPr>
        <p:spPr>
          <a:xfrm>
            <a:off x="6355080" y="3547872"/>
            <a:ext cx="2286000" cy="0"/>
          </a:xfrm>
          <a:prstGeom prst="line">
            <a:avLst/>
          </a:prstGeom>
          <a:noFill/>
          <a:ln w="15240">
            <a:solidFill>
              <a:srgbClr val="5C8A6B">
                <a:alpha val="90000"/>
              </a:srgbClr>
            </a:solidFill>
            <a:prstDash val="solid"/>
          </a:ln>
        </p:spPr>
      </p:sp>
      <p:sp>
        <p:nvSpPr>
          <p:cNvPr id="18" name="Text 15"/>
          <p:cNvSpPr/>
          <p:nvPr/>
        </p:nvSpPr>
        <p:spPr>
          <a:xfrm>
            <a:off x="8915400" y="3246120"/>
            <a:ext cx="2286000" cy="292608"/>
          </a:xfrm>
          <a:prstGeom prst="rect">
            <a:avLst/>
          </a:prstGeom>
          <a:solidFill>
            <a:srgbClr val="F8D8D8"/>
          </a:solidFill>
          <a:ln>
            <a:solidFill>
              <a:srgbClr val="F8D8D8"/>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Notification</a:t>
            </a:r>
            <a:endParaRPr lang="en-US" sz="1050" dirty="0"/>
          </a:p>
        </p:txBody>
      </p:sp>
      <p:sp>
        <p:nvSpPr>
          <p:cNvPr id="19" name="Text 16"/>
          <p:cNvSpPr/>
          <p:nvPr/>
        </p:nvSpPr>
        <p:spPr>
          <a:xfrm>
            <a:off x="8915400" y="3575304"/>
            <a:ext cx="2286000" cy="813816"/>
          </a:xfrm>
          <a:prstGeom prst="rect">
            <a:avLst/>
          </a:prstGeom>
          <a:solidFill>
            <a:srgbClr val="F8D8D8"/>
          </a:solidFill>
          <a:ln>
            <a:solidFill>
              <a:srgbClr val="F8D8D8"/>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A short message about success, warning, error or system status.</a:t>
            </a:r>
            <a:endParaRPr lang="en-US" sz="860" dirty="0"/>
          </a:p>
        </p:txBody>
      </p:sp>
      <p:sp>
        <p:nvSpPr>
          <p:cNvPr id="20" name="Shape 17"/>
          <p:cNvSpPr/>
          <p:nvPr/>
        </p:nvSpPr>
        <p:spPr>
          <a:xfrm>
            <a:off x="8915400" y="3547872"/>
            <a:ext cx="2286000" cy="0"/>
          </a:xfrm>
          <a:prstGeom prst="line">
            <a:avLst/>
          </a:prstGeom>
          <a:noFill/>
          <a:ln w="15240">
            <a:solidFill>
              <a:srgbClr val="BA3E3E">
                <a:alpha val="90000"/>
              </a:srgbClr>
            </a:solidFill>
            <a:prstDash val="solid"/>
          </a:ln>
        </p:spPr>
      </p:sp>
      <p:sp>
        <p:nvSpPr>
          <p:cNvPr id="21" name="Text 18"/>
          <p:cNvSpPr/>
          <p:nvPr/>
        </p:nvSpPr>
        <p:spPr>
          <a:xfrm>
            <a:off x="1828800" y="5413248"/>
            <a:ext cx="8412480" cy="411480"/>
          </a:xfrm>
          <a:prstGeom prst="rect">
            <a:avLst/>
          </a:prstGeom>
          <a:solidFill>
            <a:srgbClr val="112E42"/>
          </a:solidFill>
          <a:ln>
            <a:solidFill>
              <a:srgbClr val="112E42"/>
            </a:solidFill>
          </a:ln>
        </p:spPr>
        <p:txBody>
          <a:bodyPr wrap="square"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Do not use a modal when the user can safely continue without interruption.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Input and control objects</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A control should match the type of decision the user needs to make.</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8</a:t>
            </a:r>
            <a:endParaRPr lang="en-US" sz="580" dirty="0"/>
          </a:p>
        </p:txBody>
      </p:sp>
      <p:sp>
        <p:nvSpPr>
          <p:cNvPr id="8" name="Text 6"/>
          <p:cNvSpPr/>
          <p:nvPr/>
        </p:nvSpPr>
        <p:spPr>
          <a:xfrm>
            <a:off x="685800" y="1719072"/>
            <a:ext cx="233172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Text field</a:t>
            </a:r>
            <a:endParaRPr lang="en-US" sz="1050" dirty="0"/>
          </a:p>
        </p:txBody>
      </p:sp>
      <p:sp>
        <p:nvSpPr>
          <p:cNvPr id="9" name="Text 7"/>
          <p:cNvSpPr/>
          <p:nvPr/>
        </p:nvSpPr>
        <p:spPr>
          <a:xfrm>
            <a:off x="685800" y="2048256"/>
            <a:ext cx="2331720" cy="749808"/>
          </a:xfrm>
          <a:prstGeom prst="rect">
            <a:avLst/>
          </a:prstGeom>
          <a:solidFill>
            <a:srgbClr val="FFFFFF"/>
          </a:solidFill>
          <a:ln>
            <a:solidFill>
              <a:srgbClr val="FFFF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Use when the value is open-ended or cannot be predicted easily.</a:t>
            </a:r>
            <a:endParaRPr lang="en-US" sz="860" dirty="0"/>
          </a:p>
        </p:txBody>
      </p:sp>
      <p:sp>
        <p:nvSpPr>
          <p:cNvPr id="10" name="Shape 8"/>
          <p:cNvSpPr/>
          <p:nvPr/>
        </p:nvSpPr>
        <p:spPr>
          <a:xfrm>
            <a:off x="685800" y="2020824"/>
            <a:ext cx="2331720" cy="0"/>
          </a:xfrm>
          <a:prstGeom prst="line">
            <a:avLst/>
          </a:prstGeom>
          <a:noFill/>
          <a:ln w="15240">
            <a:solidFill>
              <a:srgbClr val="2E6FD8">
                <a:alpha val="90000"/>
              </a:srgbClr>
            </a:solidFill>
            <a:prstDash val="solid"/>
          </a:ln>
        </p:spPr>
      </p:sp>
      <p:sp>
        <p:nvSpPr>
          <p:cNvPr id="11" name="Text 9"/>
          <p:cNvSpPr/>
          <p:nvPr/>
        </p:nvSpPr>
        <p:spPr>
          <a:xfrm>
            <a:off x="3246120" y="1719072"/>
            <a:ext cx="233172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Dropdown / list</a:t>
            </a:r>
            <a:endParaRPr lang="en-US" sz="1050" dirty="0"/>
          </a:p>
        </p:txBody>
      </p:sp>
      <p:sp>
        <p:nvSpPr>
          <p:cNvPr id="12" name="Text 10"/>
          <p:cNvSpPr/>
          <p:nvPr/>
        </p:nvSpPr>
        <p:spPr>
          <a:xfrm>
            <a:off x="3246120" y="2048256"/>
            <a:ext cx="2331720" cy="749808"/>
          </a:xfrm>
          <a:prstGeom prst="rect">
            <a:avLst/>
          </a:prstGeom>
          <a:solidFill>
            <a:srgbClr val="FFFFFF"/>
          </a:solidFill>
          <a:ln>
            <a:solidFill>
              <a:srgbClr val="FFFF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Use when values are predefined and the user must choose one or more items.</a:t>
            </a:r>
            <a:endParaRPr lang="en-US" sz="860" dirty="0"/>
          </a:p>
        </p:txBody>
      </p:sp>
      <p:sp>
        <p:nvSpPr>
          <p:cNvPr id="13" name="Shape 11"/>
          <p:cNvSpPr/>
          <p:nvPr/>
        </p:nvSpPr>
        <p:spPr>
          <a:xfrm>
            <a:off x="3246120" y="2020824"/>
            <a:ext cx="2331720" cy="0"/>
          </a:xfrm>
          <a:prstGeom prst="line">
            <a:avLst/>
          </a:prstGeom>
          <a:noFill/>
          <a:ln w="15240">
            <a:solidFill>
              <a:srgbClr val="5C8A6B">
                <a:alpha val="90000"/>
              </a:srgbClr>
            </a:solidFill>
            <a:prstDash val="solid"/>
          </a:ln>
        </p:spPr>
      </p:sp>
      <p:sp>
        <p:nvSpPr>
          <p:cNvPr id="14" name="Text 12"/>
          <p:cNvSpPr/>
          <p:nvPr/>
        </p:nvSpPr>
        <p:spPr>
          <a:xfrm>
            <a:off x="5806440" y="1719072"/>
            <a:ext cx="233172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Checkbox</a:t>
            </a:r>
            <a:endParaRPr lang="en-US" sz="1050" dirty="0"/>
          </a:p>
        </p:txBody>
      </p:sp>
      <p:sp>
        <p:nvSpPr>
          <p:cNvPr id="15" name="Text 13"/>
          <p:cNvSpPr/>
          <p:nvPr/>
        </p:nvSpPr>
        <p:spPr>
          <a:xfrm>
            <a:off x="5806440" y="2048256"/>
            <a:ext cx="2331720" cy="749808"/>
          </a:xfrm>
          <a:prstGeom prst="rect">
            <a:avLst/>
          </a:prstGeom>
          <a:solidFill>
            <a:srgbClr val="FFFFFF"/>
          </a:solidFill>
          <a:ln>
            <a:solidFill>
              <a:srgbClr val="FFFF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Use when each option can be independently selected or deselected.</a:t>
            </a:r>
            <a:endParaRPr lang="en-US" sz="860" dirty="0"/>
          </a:p>
        </p:txBody>
      </p:sp>
      <p:sp>
        <p:nvSpPr>
          <p:cNvPr id="16" name="Shape 14"/>
          <p:cNvSpPr/>
          <p:nvPr/>
        </p:nvSpPr>
        <p:spPr>
          <a:xfrm>
            <a:off x="5806440" y="2020824"/>
            <a:ext cx="2331720" cy="0"/>
          </a:xfrm>
          <a:prstGeom prst="line">
            <a:avLst/>
          </a:prstGeom>
          <a:noFill/>
          <a:ln w="15240">
            <a:solidFill>
              <a:srgbClr val="F2A65A">
                <a:alpha val="90000"/>
              </a:srgbClr>
            </a:solidFill>
            <a:prstDash val="solid"/>
          </a:ln>
        </p:spPr>
      </p:sp>
      <p:sp>
        <p:nvSpPr>
          <p:cNvPr id="17" name="Text 15"/>
          <p:cNvSpPr/>
          <p:nvPr/>
        </p:nvSpPr>
        <p:spPr>
          <a:xfrm>
            <a:off x="8366760" y="1719072"/>
            <a:ext cx="233172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Radio buttons</a:t>
            </a:r>
            <a:endParaRPr lang="en-US" sz="1050" dirty="0"/>
          </a:p>
        </p:txBody>
      </p:sp>
      <p:sp>
        <p:nvSpPr>
          <p:cNvPr id="18" name="Text 16"/>
          <p:cNvSpPr/>
          <p:nvPr/>
        </p:nvSpPr>
        <p:spPr>
          <a:xfrm>
            <a:off x="8366760" y="2048256"/>
            <a:ext cx="2331720" cy="749808"/>
          </a:xfrm>
          <a:prstGeom prst="rect">
            <a:avLst/>
          </a:prstGeom>
          <a:solidFill>
            <a:srgbClr val="FFFFFF"/>
          </a:solidFill>
          <a:ln>
            <a:solidFill>
              <a:srgbClr val="FFFF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Use when the user must choose exactly one option from a small visible set.</a:t>
            </a:r>
            <a:endParaRPr lang="en-US" sz="860" dirty="0"/>
          </a:p>
        </p:txBody>
      </p:sp>
      <p:sp>
        <p:nvSpPr>
          <p:cNvPr id="19" name="Shape 17"/>
          <p:cNvSpPr/>
          <p:nvPr/>
        </p:nvSpPr>
        <p:spPr>
          <a:xfrm>
            <a:off x="8366760" y="2020824"/>
            <a:ext cx="2331720" cy="0"/>
          </a:xfrm>
          <a:prstGeom prst="line">
            <a:avLst/>
          </a:prstGeom>
          <a:noFill/>
          <a:ln w="15240">
            <a:solidFill>
              <a:srgbClr val="7C6ACB">
                <a:alpha val="90000"/>
              </a:srgbClr>
            </a:solidFill>
            <a:prstDash val="solid"/>
          </a:ln>
        </p:spPr>
      </p:sp>
      <p:sp>
        <p:nvSpPr>
          <p:cNvPr id="20" name="Text 18"/>
          <p:cNvSpPr/>
          <p:nvPr/>
        </p:nvSpPr>
        <p:spPr>
          <a:xfrm>
            <a:off x="685800" y="3218688"/>
            <a:ext cx="3108960" cy="292608"/>
          </a:xfrm>
          <a:prstGeom prst="rect">
            <a:avLst/>
          </a:prstGeom>
          <a:solidFill>
            <a:srgbClr val="EEF6FF"/>
          </a:solidFill>
          <a:ln>
            <a:solidFill>
              <a:srgbClr val="EEF6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Button</a:t>
            </a:r>
            <a:endParaRPr lang="en-US" sz="1050" dirty="0"/>
          </a:p>
        </p:txBody>
      </p:sp>
      <p:sp>
        <p:nvSpPr>
          <p:cNvPr id="21" name="Text 19"/>
          <p:cNvSpPr/>
          <p:nvPr/>
        </p:nvSpPr>
        <p:spPr>
          <a:xfrm>
            <a:off x="685800" y="3547872"/>
            <a:ext cx="3108960" cy="813816"/>
          </a:xfrm>
          <a:prstGeom prst="rect">
            <a:avLst/>
          </a:prstGeom>
          <a:solidFill>
            <a:srgbClr val="EEF6FF"/>
          </a:solidFill>
          <a:ln>
            <a:solidFill>
              <a:srgbClr val="EEF6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Use for actions. Button labels should start with verbs such as Save, Submit, Search, or Cancel.</a:t>
            </a:r>
            <a:endParaRPr lang="en-US" sz="860" dirty="0"/>
          </a:p>
        </p:txBody>
      </p:sp>
      <p:sp>
        <p:nvSpPr>
          <p:cNvPr id="22" name="Shape 20"/>
          <p:cNvSpPr/>
          <p:nvPr/>
        </p:nvSpPr>
        <p:spPr>
          <a:xfrm>
            <a:off x="685800" y="3520440"/>
            <a:ext cx="3108960" cy="0"/>
          </a:xfrm>
          <a:prstGeom prst="line">
            <a:avLst/>
          </a:prstGeom>
          <a:noFill/>
          <a:ln w="15240">
            <a:solidFill>
              <a:srgbClr val="2E6FD8">
                <a:alpha val="90000"/>
              </a:srgbClr>
            </a:solidFill>
            <a:prstDash val="solid"/>
          </a:ln>
        </p:spPr>
      </p:sp>
      <p:sp>
        <p:nvSpPr>
          <p:cNvPr id="23" name="Text 21"/>
          <p:cNvSpPr/>
          <p:nvPr/>
        </p:nvSpPr>
        <p:spPr>
          <a:xfrm>
            <a:off x="4206240" y="3218688"/>
            <a:ext cx="3108960" cy="292608"/>
          </a:xfrm>
          <a:prstGeom prst="rect">
            <a:avLst/>
          </a:prstGeom>
          <a:solidFill>
            <a:srgbClr val="DFF1E6"/>
          </a:solidFill>
          <a:ln>
            <a:solidFill>
              <a:srgbClr val="DFF1E6"/>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Toggle / switch</a:t>
            </a:r>
            <a:endParaRPr lang="en-US" sz="1050" dirty="0"/>
          </a:p>
        </p:txBody>
      </p:sp>
      <p:sp>
        <p:nvSpPr>
          <p:cNvPr id="24" name="Text 22"/>
          <p:cNvSpPr/>
          <p:nvPr/>
        </p:nvSpPr>
        <p:spPr>
          <a:xfrm>
            <a:off x="4206240" y="3547872"/>
            <a:ext cx="3108960" cy="813816"/>
          </a:xfrm>
          <a:prstGeom prst="rect">
            <a:avLst/>
          </a:prstGeom>
          <a:solidFill>
            <a:srgbClr val="DFF1E6"/>
          </a:solidFill>
          <a:ln>
            <a:solidFill>
              <a:srgbClr val="DFF1E6"/>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Use for an immediate on/off state, especially settings that can be reversed.</a:t>
            </a:r>
            <a:endParaRPr lang="en-US" sz="860" dirty="0"/>
          </a:p>
        </p:txBody>
      </p:sp>
      <p:sp>
        <p:nvSpPr>
          <p:cNvPr id="25" name="Shape 23"/>
          <p:cNvSpPr/>
          <p:nvPr/>
        </p:nvSpPr>
        <p:spPr>
          <a:xfrm>
            <a:off x="4206240" y="3520440"/>
            <a:ext cx="3108960" cy="0"/>
          </a:xfrm>
          <a:prstGeom prst="line">
            <a:avLst/>
          </a:prstGeom>
          <a:noFill/>
          <a:ln w="15240">
            <a:solidFill>
              <a:srgbClr val="5C8A6B">
                <a:alpha val="90000"/>
              </a:srgbClr>
            </a:solidFill>
            <a:prstDash val="solid"/>
          </a:ln>
        </p:spPr>
      </p:sp>
      <p:sp>
        <p:nvSpPr>
          <p:cNvPr id="26" name="Text 24"/>
          <p:cNvSpPr/>
          <p:nvPr/>
        </p:nvSpPr>
        <p:spPr>
          <a:xfrm>
            <a:off x="7726680" y="3218688"/>
            <a:ext cx="3108960" cy="292608"/>
          </a:xfrm>
          <a:prstGeom prst="rect">
            <a:avLst/>
          </a:prstGeom>
          <a:solidFill>
            <a:srgbClr val="FFF5D4"/>
          </a:solidFill>
          <a:ln>
            <a:solidFill>
              <a:srgbClr val="FFF5D4"/>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Slider</a:t>
            </a:r>
            <a:endParaRPr lang="en-US" sz="1050" dirty="0"/>
          </a:p>
        </p:txBody>
      </p:sp>
      <p:sp>
        <p:nvSpPr>
          <p:cNvPr id="27" name="Text 25"/>
          <p:cNvSpPr/>
          <p:nvPr/>
        </p:nvSpPr>
        <p:spPr>
          <a:xfrm>
            <a:off x="7726680" y="3547872"/>
            <a:ext cx="3108960" cy="813816"/>
          </a:xfrm>
          <a:prstGeom prst="rect">
            <a:avLst/>
          </a:prstGeom>
          <a:solidFill>
            <a:srgbClr val="FFF5D4"/>
          </a:solidFill>
          <a:ln>
            <a:solidFill>
              <a:srgbClr val="FFF5D4"/>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Use for approximate values on a range, not for exact critical input.</a:t>
            </a:r>
            <a:endParaRPr lang="en-US" sz="860" dirty="0"/>
          </a:p>
        </p:txBody>
      </p:sp>
      <p:sp>
        <p:nvSpPr>
          <p:cNvPr id="28" name="Shape 26"/>
          <p:cNvSpPr/>
          <p:nvPr/>
        </p:nvSpPr>
        <p:spPr>
          <a:xfrm>
            <a:off x="7726680" y="3520440"/>
            <a:ext cx="3108960" cy="0"/>
          </a:xfrm>
          <a:prstGeom prst="line">
            <a:avLst/>
          </a:prstGeom>
          <a:noFill/>
          <a:ln w="15240">
            <a:solidFill>
              <a:srgbClr val="F2A65A">
                <a:alpha val="90000"/>
              </a:srgbClr>
            </a:solidFill>
            <a:prstDash val="solid"/>
          </a:ln>
        </p:spPr>
      </p:sp>
      <p:sp>
        <p:nvSpPr>
          <p:cNvPr id="29" name="Text 27"/>
          <p:cNvSpPr/>
          <p:nvPr/>
        </p:nvSpPr>
        <p:spPr>
          <a:xfrm>
            <a:off x="2194560" y="5349240"/>
            <a:ext cx="7680960" cy="411480"/>
          </a:xfrm>
          <a:prstGeom prst="rect">
            <a:avLst/>
          </a:prstGeom>
          <a:solidFill>
            <a:srgbClr val="F1EEFF"/>
          </a:solidFill>
          <a:ln>
            <a:solidFill>
              <a:srgbClr val="F1EEFF"/>
            </a:solidFill>
          </a:ln>
        </p:spPr>
        <p:txBody>
          <a:bodyPr wrap="square" rtlCol="0" anchor="ctr">
            <a:normAutofit/>
          </a:bodyPr>
          <a:lstStyle/>
          <a:p>
            <a:pPr algn="ctr" indent="0" marL="0">
              <a:buNone/>
            </a:pPr>
            <a:r>
              <a:rPr lang="en-US" sz="1050" b="1" dirty="0">
                <a:solidFill>
                  <a:srgbClr val="112E42"/>
                </a:solidFill>
                <a:latin typeface="Aptos" pitchFamily="34" charset="0"/>
                <a:ea typeface="Aptos" pitchFamily="34" charset="-122"/>
                <a:cs typeface="Aptos" pitchFamily="34" charset="-120"/>
              </a:rPr>
              <a:t>Wrong control choice creates wrong mental model.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Feedback: every user action needs a visible response</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Feedback tells users whether the system understood the action and what happened next.</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9</a:t>
            </a:r>
            <a:endParaRPr lang="en-US" sz="580" dirty="0"/>
          </a:p>
        </p:txBody>
      </p:sp>
      <p:pic>
        <p:nvPicPr>
          <p:cNvPr id="8" name="Image 0" descr="/mnt/data/wide_clean_flat_vector_illustration_of_a_user_jour_batch_4.png">    </p:cNvPr>
          <p:cNvPicPr>
            <a:picLocks noChangeAspect="1"/>
          </p:cNvPicPr>
          <p:nvPr/>
        </p:nvPicPr>
        <p:blipFill>
          <a:blip r:embed="rId1"/>
          <a:srcRect l="0" r="0" t="5579" b="5579"/>
          <a:stretch/>
        </p:blipFill>
        <p:spPr>
          <a:xfrm>
            <a:off x="685800" y="1874520"/>
            <a:ext cx="5669280" cy="2834640"/>
          </a:xfrm>
          <a:prstGeom prst="rect">
            <a:avLst/>
          </a:prstGeom>
        </p:spPr>
      </p:pic>
      <p:sp>
        <p:nvSpPr>
          <p:cNvPr id="9" name="Text 6"/>
          <p:cNvSpPr/>
          <p:nvPr/>
        </p:nvSpPr>
        <p:spPr>
          <a:xfrm>
            <a:off x="6812280" y="1737360"/>
            <a:ext cx="4114800" cy="292608"/>
          </a:xfrm>
          <a:prstGeom prst="rect">
            <a:avLst/>
          </a:prstGeom>
          <a:solidFill>
            <a:srgbClr val="DFF1E6"/>
          </a:solidFill>
          <a:ln>
            <a:solidFill>
              <a:srgbClr val="DFF1E6"/>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Success</a:t>
            </a:r>
            <a:endParaRPr lang="en-US" sz="1050" dirty="0"/>
          </a:p>
        </p:txBody>
      </p:sp>
      <p:sp>
        <p:nvSpPr>
          <p:cNvPr id="10" name="Text 7"/>
          <p:cNvSpPr/>
          <p:nvPr/>
        </p:nvSpPr>
        <p:spPr>
          <a:xfrm>
            <a:off x="6812280" y="2066544"/>
            <a:ext cx="4114800" cy="493776"/>
          </a:xfrm>
          <a:prstGeom prst="rect">
            <a:avLst/>
          </a:prstGeom>
          <a:solidFill>
            <a:srgbClr val="DFF1E6"/>
          </a:solidFill>
          <a:ln>
            <a:solidFill>
              <a:srgbClr val="DFF1E6"/>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Confirm that the action was completed. Avoid vague messages.</a:t>
            </a:r>
            <a:endParaRPr lang="en-US" sz="860" dirty="0"/>
          </a:p>
        </p:txBody>
      </p:sp>
      <p:sp>
        <p:nvSpPr>
          <p:cNvPr id="11" name="Shape 8"/>
          <p:cNvSpPr/>
          <p:nvPr/>
        </p:nvSpPr>
        <p:spPr>
          <a:xfrm>
            <a:off x="6812280" y="2039112"/>
            <a:ext cx="4114800" cy="0"/>
          </a:xfrm>
          <a:prstGeom prst="line">
            <a:avLst/>
          </a:prstGeom>
          <a:noFill/>
          <a:ln w="15240">
            <a:solidFill>
              <a:srgbClr val="5C8A6B">
                <a:alpha val="90000"/>
              </a:srgbClr>
            </a:solidFill>
            <a:prstDash val="solid"/>
          </a:ln>
        </p:spPr>
      </p:sp>
      <p:sp>
        <p:nvSpPr>
          <p:cNvPr id="12" name="Text 9"/>
          <p:cNvSpPr/>
          <p:nvPr/>
        </p:nvSpPr>
        <p:spPr>
          <a:xfrm>
            <a:off x="6812280" y="2743200"/>
            <a:ext cx="4114800" cy="292608"/>
          </a:xfrm>
          <a:prstGeom prst="rect">
            <a:avLst/>
          </a:prstGeom>
          <a:solidFill>
            <a:srgbClr val="FFF5D4"/>
          </a:solidFill>
          <a:ln>
            <a:solidFill>
              <a:srgbClr val="FFF5D4"/>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Warning</a:t>
            </a:r>
            <a:endParaRPr lang="en-US" sz="1050" dirty="0"/>
          </a:p>
        </p:txBody>
      </p:sp>
      <p:sp>
        <p:nvSpPr>
          <p:cNvPr id="13" name="Text 10"/>
          <p:cNvSpPr/>
          <p:nvPr/>
        </p:nvSpPr>
        <p:spPr>
          <a:xfrm>
            <a:off x="6812280" y="3072384"/>
            <a:ext cx="4114800" cy="493776"/>
          </a:xfrm>
          <a:prstGeom prst="rect">
            <a:avLst/>
          </a:prstGeom>
          <a:solidFill>
            <a:srgbClr val="FFF5D4"/>
          </a:solidFill>
          <a:ln>
            <a:solidFill>
              <a:srgbClr val="FFF5D4"/>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Alert users before a risky or irreversible action.</a:t>
            </a:r>
            <a:endParaRPr lang="en-US" sz="860" dirty="0"/>
          </a:p>
        </p:txBody>
      </p:sp>
      <p:sp>
        <p:nvSpPr>
          <p:cNvPr id="14" name="Shape 11"/>
          <p:cNvSpPr/>
          <p:nvPr/>
        </p:nvSpPr>
        <p:spPr>
          <a:xfrm>
            <a:off x="6812280" y="3044952"/>
            <a:ext cx="4114800" cy="0"/>
          </a:xfrm>
          <a:prstGeom prst="line">
            <a:avLst/>
          </a:prstGeom>
          <a:noFill/>
          <a:ln w="15240">
            <a:solidFill>
              <a:srgbClr val="F2A65A">
                <a:alpha val="90000"/>
              </a:srgbClr>
            </a:solidFill>
            <a:prstDash val="solid"/>
          </a:ln>
        </p:spPr>
      </p:sp>
      <p:sp>
        <p:nvSpPr>
          <p:cNvPr id="15" name="Text 12"/>
          <p:cNvSpPr/>
          <p:nvPr/>
        </p:nvSpPr>
        <p:spPr>
          <a:xfrm>
            <a:off x="6812280" y="3749040"/>
            <a:ext cx="4114800" cy="292608"/>
          </a:xfrm>
          <a:prstGeom prst="rect">
            <a:avLst/>
          </a:prstGeom>
          <a:solidFill>
            <a:srgbClr val="F8D8D8"/>
          </a:solidFill>
          <a:ln>
            <a:solidFill>
              <a:srgbClr val="F8D8D8"/>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Error</a:t>
            </a:r>
            <a:endParaRPr lang="en-US" sz="1050" dirty="0"/>
          </a:p>
        </p:txBody>
      </p:sp>
      <p:sp>
        <p:nvSpPr>
          <p:cNvPr id="16" name="Text 13"/>
          <p:cNvSpPr/>
          <p:nvPr/>
        </p:nvSpPr>
        <p:spPr>
          <a:xfrm>
            <a:off x="6812280" y="4078224"/>
            <a:ext cx="4114800" cy="493776"/>
          </a:xfrm>
          <a:prstGeom prst="rect">
            <a:avLst/>
          </a:prstGeom>
          <a:solidFill>
            <a:srgbClr val="F8D8D8"/>
          </a:solidFill>
          <a:ln>
            <a:solidFill>
              <a:srgbClr val="F8D8D8"/>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Explain the problem and tell the user how to correct it.</a:t>
            </a:r>
            <a:endParaRPr lang="en-US" sz="860" dirty="0"/>
          </a:p>
        </p:txBody>
      </p:sp>
      <p:sp>
        <p:nvSpPr>
          <p:cNvPr id="17" name="Shape 14"/>
          <p:cNvSpPr/>
          <p:nvPr/>
        </p:nvSpPr>
        <p:spPr>
          <a:xfrm>
            <a:off x="6812280" y="4050792"/>
            <a:ext cx="4114800" cy="0"/>
          </a:xfrm>
          <a:prstGeom prst="line">
            <a:avLst/>
          </a:prstGeom>
          <a:noFill/>
          <a:ln w="15240">
            <a:solidFill>
              <a:srgbClr val="BA3E3E">
                <a:alpha val="90000"/>
              </a:srgbClr>
            </a:solidFill>
            <a:prstDash val="solid"/>
          </a:ln>
        </p:spPr>
      </p:sp>
      <p:sp>
        <p:nvSpPr>
          <p:cNvPr id="18" name="Text 15"/>
          <p:cNvSpPr/>
          <p:nvPr/>
        </p:nvSpPr>
        <p:spPr>
          <a:xfrm>
            <a:off x="6812280" y="4754880"/>
            <a:ext cx="4114800" cy="292608"/>
          </a:xfrm>
          <a:prstGeom prst="rect">
            <a:avLst/>
          </a:prstGeom>
          <a:solidFill>
            <a:srgbClr val="EEF6FF"/>
          </a:solidFill>
          <a:ln>
            <a:solidFill>
              <a:srgbClr val="EEF6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Progress</a:t>
            </a:r>
            <a:endParaRPr lang="en-US" sz="1050" dirty="0"/>
          </a:p>
        </p:txBody>
      </p:sp>
      <p:sp>
        <p:nvSpPr>
          <p:cNvPr id="19" name="Text 16"/>
          <p:cNvSpPr/>
          <p:nvPr/>
        </p:nvSpPr>
        <p:spPr>
          <a:xfrm>
            <a:off x="6812280" y="5084064"/>
            <a:ext cx="4114800" cy="493776"/>
          </a:xfrm>
          <a:prstGeom prst="rect">
            <a:avLst/>
          </a:prstGeom>
          <a:solidFill>
            <a:srgbClr val="EEF6FF"/>
          </a:solidFill>
          <a:ln>
            <a:solidFill>
              <a:srgbClr val="EEF6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Show that the system is working when a task takes time.</a:t>
            </a:r>
            <a:endParaRPr lang="en-US" sz="860" dirty="0"/>
          </a:p>
        </p:txBody>
      </p:sp>
      <p:sp>
        <p:nvSpPr>
          <p:cNvPr id="20" name="Shape 17"/>
          <p:cNvSpPr/>
          <p:nvPr/>
        </p:nvSpPr>
        <p:spPr>
          <a:xfrm>
            <a:off x="6812280" y="5056632"/>
            <a:ext cx="4114800" cy="0"/>
          </a:xfrm>
          <a:prstGeom prst="line">
            <a:avLst/>
          </a:prstGeom>
          <a:noFill/>
          <a:ln w="15240">
            <a:solidFill>
              <a:srgbClr val="2E6FD8">
                <a:alpha val="9000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Colour: meaning, hierarchy and readability</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Colour should support meaning and visual hierarchy. It should not be used only for decoration.</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10</a:t>
            </a:r>
            <a:endParaRPr lang="en-US" sz="580" dirty="0"/>
          </a:p>
        </p:txBody>
      </p:sp>
      <p:pic>
        <p:nvPicPr>
          <p:cNvPr id="8" name="Image 0" descr="/mnt/data/a_wide_clean_flat_vector_illustration_style_scen.png">    </p:cNvPr>
          <p:cNvPicPr>
            <a:picLocks noChangeAspect="1"/>
          </p:cNvPicPr>
          <p:nvPr/>
        </p:nvPicPr>
        <p:blipFill>
          <a:blip r:embed="rId1"/>
          <a:srcRect l="7178" r="7178" t="0" b="0"/>
          <a:stretch/>
        </p:blipFill>
        <p:spPr>
          <a:xfrm>
            <a:off x="6492240" y="1737360"/>
            <a:ext cx="4800600" cy="3154680"/>
          </a:xfrm>
          <a:prstGeom prst="rect">
            <a:avLst/>
          </a:prstGeom>
        </p:spPr>
      </p:pic>
      <p:sp>
        <p:nvSpPr>
          <p:cNvPr id="9" name="Text 6"/>
          <p:cNvSpPr/>
          <p:nvPr/>
        </p:nvSpPr>
        <p:spPr>
          <a:xfrm>
            <a:off x="777240" y="1737360"/>
            <a:ext cx="4754880" cy="292608"/>
          </a:xfrm>
          <a:prstGeom prst="rect">
            <a:avLst/>
          </a:prstGeom>
          <a:solidFill>
            <a:srgbClr val="DFF1E6"/>
          </a:solidFill>
          <a:ln>
            <a:solidFill>
              <a:srgbClr val="DFF1E6"/>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Meaning</a:t>
            </a:r>
            <a:endParaRPr lang="en-US" sz="1050" dirty="0"/>
          </a:p>
        </p:txBody>
      </p:sp>
      <p:sp>
        <p:nvSpPr>
          <p:cNvPr id="10" name="Text 7"/>
          <p:cNvSpPr/>
          <p:nvPr/>
        </p:nvSpPr>
        <p:spPr>
          <a:xfrm>
            <a:off x="777240" y="2066544"/>
            <a:ext cx="4754880" cy="768096"/>
          </a:xfrm>
          <a:prstGeom prst="rect">
            <a:avLst/>
          </a:prstGeom>
          <a:solidFill>
            <a:srgbClr val="DFF1E6"/>
          </a:solidFill>
          <a:ln>
            <a:solidFill>
              <a:srgbClr val="DFF1E6"/>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Use colour consistently: green for success, red for errors, yellow/orange for warnings, blue for neutral actions.</a:t>
            </a:r>
            <a:endParaRPr lang="en-US" sz="860" dirty="0"/>
          </a:p>
        </p:txBody>
      </p:sp>
      <p:sp>
        <p:nvSpPr>
          <p:cNvPr id="11" name="Shape 8"/>
          <p:cNvSpPr/>
          <p:nvPr/>
        </p:nvSpPr>
        <p:spPr>
          <a:xfrm>
            <a:off x="777240" y="2039112"/>
            <a:ext cx="4754880" cy="0"/>
          </a:xfrm>
          <a:prstGeom prst="line">
            <a:avLst/>
          </a:prstGeom>
          <a:noFill/>
          <a:ln w="15240">
            <a:solidFill>
              <a:srgbClr val="5C8A6B">
                <a:alpha val="90000"/>
              </a:srgbClr>
            </a:solidFill>
            <a:prstDash val="solid"/>
          </a:ln>
        </p:spPr>
      </p:sp>
      <p:sp>
        <p:nvSpPr>
          <p:cNvPr id="12" name="Text 9"/>
          <p:cNvSpPr/>
          <p:nvPr/>
        </p:nvSpPr>
        <p:spPr>
          <a:xfrm>
            <a:off x="777240" y="3035808"/>
            <a:ext cx="4754880" cy="292608"/>
          </a:xfrm>
          <a:prstGeom prst="rect">
            <a:avLst/>
          </a:prstGeom>
          <a:solidFill>
            <a:srgbClr val="EEF6FF"/>
          </a:solidFill>
          <a:ln>
            <a:solidFill>
              <a:srgbClr val="EEF6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Contrast</a:t>
            </a:r>
            <a:endParaRPr lang="en-US" sz="1050" dirty="0"/>
          </a:p>
        </p:txBody>
      </p:sp>
      <p:sp>
        <p:nvSpPr>
          <p:cNvPr id="13" name="Text 10"/>
          <p:cNvSpPr/>
          <p:nvPr/>
        </p:nvSpPr>
        <p:spPr>
          <a:xfrm>
            <a:off x="777240" y="3364992"/>
            <a:ext cx="4754880" cy="768096"/>
          </a:xfrm>
          <a:prstGeom prst="rect">
            <a:avLst/>
          </a:prstGeom>
          <a:solidFill>
            <a:srgbClr val="EEF6FF"/>
          </a:solidFill>
          <a:ln>
            <a:solidFill>
              <a:srgbClr val="EEF6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Text must be readable. Weak contrast makes even a good design difficult to use.</a:t>
            </a:r>
            <a:endParaRPr lang="en-US" sz="860" dirty="0"/>
          </a:p>
        </p:txBody>
      </p:sp>
      <p:sp>
        <p:nvSpPr>
          <p:cNvPr id="14" name="Shape 11"/>
          <p:cNvSpPr/>
          <p:nvPr/>
        </p:nvSpPr>
        <p:spPr>
          <a:xfrm>
            <a:off x="777240" y="3337560"/>
            <a:ext cx="4754880" cy="0"/>
          </a:xfrm>
          <a:prstGeom prst="line">
            <a:avLst/>
          </a:prstGeom>
          <a:noFill/>
          <a:ln w="15240">
            <a:solidFill>
              <a:srgbClr val="2E6FD8">
                <a:alpha val="90000"/>
              </a:srgbClr>
            </a:solidFill>
            <a:prstDash val="solid"/>
          </a:ln>
        </p:spPr>
      </p:sp>
      <p:sp>
        <p:nvSpPr>
          <p:cNvPr id="15" name="Text 12"/>
          <p:cNvSpPr/>
          <p:nvPr/>
        </p:nvSpPr>
        <p:spPr>
          <a:xfrm>
            <a:off x="777240" y="4343400"/>
            <a:ext cx="4754880" cy="292608"/>
          </a:xfrm>
          <a:prstGeom prst="rect">
            <a:avLst/>
          </a:prstGeom>
          <a:solidFill>
            <a:srgbClr val="FFF5D4"/>
          </a:solidFill>
          <a:ln>
            <a:solidFill>
              <a:srgbClr val="FFF5D4"/>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Moderation</a:t>
            </a:r>
            <a:endParaRPr lang="en-US" sz="1050" dirty="0"/>
          </a:p>
        </p:txBody>
      </p:sp>
      <p:sp>
        <p:nvSpPr>
          <p:cNvPr id="16" name="Text 13"/>
          <p:cNvSpPr/>
          <p:nvPr/>
        </p:nvSpPr>
        <p:spPr>
          <a:xfrm>
            <a:off x="777240" y="4672584"/>
            <a:ext cx="4754880" cy="768096"/>
          </a:xfrm>
          <a:prstGeom prst="rect">
            <a:avLst/>
          </a:prstGeom>
          <a:solidFill>
            <a:srgbClr val="FFF5D4"/>
          </a:solidFill>
          <a:ln>
            <a:solidFill>
              <a:srgbClr val="FFF5D4"/>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Too many colours create noise. Use a small palette and clear emphasis.</a:t>
            </a:r>
            <a:endParaRPr lang="en-US" sz="860" dirty="0"/>
          </a:p>
        </p:txBody>
      </p:sp>
      <p:sp>
        <p:nvSpPr>
          <p:cNvPr id="17" name="Shape 14"/>
          <p:cNvSpPr/>
          <p:nvPr/>
        </p:nvSpPr>
        <p:spPr>
          <a:xfrm>
            <a:off x="777240" y="4645152"/>
            <a:ext cx="4754880" cy="0"/>
          </a:xfrm>
          <a:prstGeom prst="line">
            <a:avLst/>
          </a:prstGeom>
          <a:noFill/>
          <a:ln w="15240">
            <a:solidFill>
              <a:srgbClr val="F2A65A">
                <a:alpha val="9000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Graphic elements and visual hierarchy</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Icons, images, spacing and grouping should make the interface easier to scan.</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11</a:t>
            </a:r>
            <a:endParaRPr lang="en-US" sz="580" dirty="0"/>
          </a:p>
        </p:txBody>
      </p:sp>
      <p:sp>
        <p:nvSpPr>
          <p:cNvPr id="8" name="Text 6"/>
          <p:cNvSpPr/>
          <p:nvPr/>
        </p:nvSpPr>
        <p:spPr>
          <a:xfrm>
            <a:off x="685800" y="1737360"/>
            <a:ext cx="2560320" cy="292608"/>
          </a:xfrm>
          <a:prstGeom prst="rect">
            <a:avLst/>
          </a:prstGeom>
          <a:solidFill>
            <a:srgbClr val="EEF6FF"/>
          </a:solidFill>
          <a:ln>
            <a:solidFill>
              <a:srgbClr val="EEF6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Icons</a:t>
            </a:r>
            <a:endParaRPr lang="en-US" sz="1050" dirty="0"/>
          </a:p>
        </p:txBody>
      </p:sp>
      <p:sp>
        <p:nvSpPr>
          <p:cNvPr id="9" name="Text 7"/>
          <p:cNvSpPr/>
          <p:nvPr/>
        </p:nvSpPr>
        <p:spPr>
          <a:xfrm>
            <a:off x="685800" y="2066544"/>
            <a:ext cx="2560320" cy="1088136"/>
          </a:xfrm>
          <a:prstGeom prst="rect">
            <a:avLst/>
          </a:prstGeom>
          <a:solidFill>
            <a:srgbClr val="EEF6FF"/>
          </a:solidFill>
          <a:ln>
            <a:solidFill>
              <a:srgbClr val="EEF6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Use icons that match common user expectations. Add labels when meaning may be unclear.</a:t>
            </a:r>
            <a:endParaRPr lang="en-US" sz="860" dirty="0"/>
          </a:p>
        </p:txBody>
      </p:sp>
      <p:sp>
        <p:nvSpPr>
          <p:cNvPr id="10" name="Shape 8"/>
          <p:cNvSpPr/>
          <p:nvPr/>
        </p:nvSpPr>
        <p:spPr>
          <a:xfrm>
            <a:off x="685800" y="2039112"/>
            <a:ext cx="2560320" cy="0"/>
          </a:xfrm>
          <a:prstGeom prst="line">
            <a:avLst/>
          </a:prstGeom>
          <a:noFill/>
          <a:ln w="15240">
            <a:solidFill>
              <a:srgbClr val="2E6FD8">
                <a:alpha val="90000"/>
              </a:srgbClr>
            </a:solidFill>
            <a:prstDash val="solid"/>
          </a:ln>
        </p:spPr>
      </p:sp>
      <p:sp>
        <p:nvSpPr>
          <p:cNvPr id="11" name="Text 9"/>
          <p:cNvSpPr/>
          <p:nvPr/>
        </p:nvSpPr>
        <p:spPr>
          <a:xfrm>
            <a:off x="3520440" y="1737360"/>
            <a:ext cx="2560320" cy="292608"/>
          </a:xfrm>
          <a:prstGeom prst="rect">
            <a:avLst/>
          </a:prstGeom>
          <a:solidFill>
            <a:srgbClr val="DFF1E6"/>
          </a:solidFill>
          <a:ln>
            <a:solidFill>
              <a:srgbClr val="DFF1E6"/>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Images</a:t>
            </a:r>
            <a:endParaRPr lang="en-US" sz="1050" dirty="0"/>
          </a:p>
        </p:txBody>
      </p:sp>
      <p:sp>
        <p:nvSpPr>
          <p:cNvPr id="12" name="Text 10"/>
          <p:cNvSpPr/>
          <p:nvPr/>
        </p:nvSpPr>
        <p:spPr>
          <a:xfrm>
            <a:off x="3520440" y="2066544"/>
            <a:ext cx="2560320" cy="1088136"/>
          </a:xfrm>
          <a:prstGeom prst="rect">
            <a:avLst/>
          </a:prstGeom>
          <a:solidFill>
            <a:srgbClr val="DFF1E6"/>
          </a:solidFill>
          <a:ln>
            <a:solidFill>
              <a:srgbClr val="DFF1E6"/>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Use images only when they help users understand content or context.</a:t>
            </a:r>
            <a:endParaRPr lang="en-US" sz="860" dirty="0"/>
          </a:p>
        </p:txBody>
      </p:sp>
      <p:sp>
        <p:nvSpPr>
          <p:cNvPr id="13" name="Shape 11"/>
          <p:cNvSpPr/>
          <p:nvPr/>
        </p:nvSpPr>
        <p:spPr>
          <a:xfrm>
            <a:off x="3520440" y="2039112"/>
            <a:ext cx="2560320" cy="0"/>
          </a:xfrm>
          <a:prstGeom prst="line">
            <a:avLst/>
          </a:prstGeom>
          <a:noFill/>
          <a:ln w="15240">
            <a:solidFill>
              <a:srgbClr val="5C8A6B">
                <a:alpha val="90000"/>
              </a:srgbClr>
            </a:solidFill>
            <a:prstDash val="solid"/>
          </a:ln>
        </p:spPr>
      </p:sp>
      <p:sp>
        <p:nvSpPr>
          <p:cNvPr id="14" name="Text 12"/>
          <p:cNvSpPr/>
          <p:nvPr/>
        </p:nvSpPr>
        <p:spPr>
          <a:xfrm>
            <a:off x="6355080" y="1737360"/>
            <a:ext cx="2560320" cy="292608"/>
          </a:xfrm>
          <a:prstGeom prst="rect">
            <a:avLst/>
          </a:prstGeom>
          <a:solidFill>
            <a:srgbClr val="FFF5D4"/>
          </a:solidFill>
          <a:ln>
            <a:solidFill>
              <a:srgbClr val="FFF5D4"/>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Spacing</a:t>
            </a:r>
            <a:endParaRPr lang="en-US" sz="1050" dirty="0"/>
          </a:p>
        </p:txBody>
      </p:sp>
      <p:sp>
        <p:nvSpPr>
          <p:cNvPr id="15" name="Text 13"/>
          <p:cNvSpPr/>
          <p:nvPr/>
        </p:nvSpPr>
        <p:spPr>
          <a:xfrm>
            <a:off x="6355080" y="2066544"/>
            <a:ext cx="2560320" cy="1088136"/>
          </a:xfrm>
          <a:prstGeom prst="rect">
            <a:avLst/>
          </a:prstGeom>
          <a:solidFill>
            <a:srgbClr val="FFF5D4"/>
          </a:solidFill>
          <a:ln>
            <a:solidFill>
              <a:srgbClr val="FFF5D4"/>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Separate unrelated groups and keep related elements close together.</a:t>
            </a:r>
            <a:endParaRPr lang="en-US" sz="860" dirty="0"/>
          </a:p>
        </p:txBody>
      </p:sp>
      <p:sp>
        <p:nvSpPr>
          <p:cNvPr id="16" name="Shape 14"/>
          <p:cNvSpPr/>
          <p:nvPr/>
        </p:nvSpPr>
        <p:spPr>
          <a:xfrm>
            <a:off x="6355080" y="2039112"/>
            <a:ext cx="2560320" cy="0"/>
          </a:xfrm>
          <a:prstGeom prst="line">
            <a:avLst/>
          </a:prstGeom>
          <a:noFill/>
          <a:ln w="15240">
            <a:solidFill>
              <a:srgbClr val="F2A65A">
                <a:alpha val="90000"/>
              </a:srgbClr>
            </a:solidFill>
            <a:prstDash val="solid"/>
          </a:ln>
        </p:spPr>
      </p:sp>
      <p:sp>
        <p:nvSpPr>
          <p:cNvPr id="17" name="Text 15"/>
          <p:cNvSpPr/>
          <p:nvPr/>
        </p:nvSpPr>
        <p:spPr>
          <a:xfrm>
            <a:off x="9189720" y="1737360"/>
            <a:ext cx="2103120" cy="292608"/>
          </a:xfrm>
          <a:prstGeom prst="rect">
            <a:avLst/>
          </a:prstGeom>
          <a:solidFill>
            <a:srgbClr val="F1EEFF"/>
          </a:solidFill>
          <a:ln>
            <a:solidFill>
              <a:srgbClr val="F1EE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Hierarchy</a:t>
            </a:r>
            <a:endParaRPr lang="en-US" sz="1050" dirty="0"/>
          </a:p>
        </p:txBody>
      </p:sp>
      <p:sp>
        <p:nvSpPr>
          <p:cNvPr id="18" name="Text 16"/>
          <p:cNvSpPr/>
          <p:nvPr/>
        </p:nvSpPr>
        <p:spPr>
          <a:xfrm>
            <a:off x="9189720" y="2066544"/>
            <a:ext cx="2103120" cy="1088136"/>
          </a:xfrm>
          <a:prstGeom prst="rect">
            <a:avLst/>
          </a:prstGeom>
          <a:solidFill>
            <a:srgbClr val="F1EEFF"/>
          </a:solidFill>
          <a:ln>
            <a:solidFill>
              <a:srgbClr val="F1EE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Size, position, contrast and order tell users what to notice first.</a:t>
            </a:r>
            <a:endParaRPr lang="en-US" sz="860" dirty="0"/>
          </a:p>
        </p:txBody>
      </p:sp>
      <p:sp>
        <p:nvSpPr>
          <p:cNvPr id="19" name="Shape 17"/>
          <p:cNvSpPr/>
          <p:nvPr/>
        </p:nvSpPr>
        <p:spPr>
          <a:xfrm>
            <a:off x="9189720" y="2039112"/>
            <a:ext cx="2103120" cy="0"/>
          </a:xfrm>
          <a:prstGeom prst="line">
            <a:avLst/>
          </a:prstGeom>
          <a:noFill/>
          <a:ln w="15240">
            <a:solidFill>
              <a:srgbClr val="7C6ACB">
                <a:alpha val="90000"/>
              </a:srgbClr>
            </a:solidFill>
            <a:prstDash val="solid"/>
          </a:ln>
        </p:spPr>
      </p:sp>
      <p:pic>
        <p:nvPicPr>
          <p:cNvPr id="20" name="Image 0" descr="/mnt/data/a_warm_clean_vector_flat_illustration_style_scene.png">    </p:cNvPr>
          <p:cNvPicPr>
            <a:picLocks noChangeAspect="1"/>
          </p:cNvPicPr>
          <p:nvPr/>
        </p:nvPicPr>
        <p:blipFill>
          <a:blip r:embed="rId1"/>
          <a:srcRect l="0" r="0" t="10408" b="10408"/>
          <a:stretch/>
        </p:blipFill>
        <p:spPr>
          <a:xfrm>
            <a:off x="1234440" y="3657600"/>
            <a:ext cx="4206240" cy="1874520"/>
          </a:xfrm>
          <a:prstGeom prst="rect">
            <a:avLst/>
          </a:prstGeom>
        </p:spPr>
      </p:pic>
      <p:sp>
        <p:nvSpPr>
          <p:cNvPr id="21" name="Text 18"/>
          <p:cNvSpPr/>
          <p:nvPr/>
        </p:nvSpPr>
        <p:spPr>
          <a:xfrm>
            <a:off x="5760720" y="3931920"/>
            <a:ext cx="4754880" cy="530352"/>
          </a:xfrm>
          <a:prstGeom prst="rect">
            <a:avLst/>
          </a:prstGeom>
          <a:noFill/>
          <a:ln/>
        </p:spPr>
        <p:txBody>
          <a:bodyPr wrap="square" lIns="0" tIns="0" rIns="0" bIns="0" rtlCol="0" anchor="ctr">
            <a:normAutofit/>
          </a:bodyPr>
          <a:lstStyle/>
          <a:p>
            <a:pPr indent="0" marL="0">
              <a:buNone/>
            </a:pPr>
            <a:r>
              <a:rPr lang="en-US" sz="1700" b="1" dirty="0">
                <a:solidFill>
                  <a:srgbClr val="112E42"/>
                </a:solidFill>
              </a:rPr>
              <a:t>Ask: what should the user see first, second, and third?</a:t>
            </a:r>
            <a:endParaRPr lang="en-US" sz="1700" dirty="0"/>
          </a:p>
        </p:txBody>
      </p:sp>
      <p:sp>
        <p:nvSpPr>
          <p:cNvPr id="22" name="Text 19"/>
          <p:cNvSpPr/>
          <p:nvPr/>
        </p:nvSpPr>
        <p:spPr>
          <a:xfrm>
            <a:off x="5806440" y="4663440"/>
            <a:ext cx="4663440" cy="822960"/>
          </a:xfrm>
          <a:prstGeom prst="rect">
            <a:avLst/>
          </a:prstGeom>
          <a:noFill/>
          <a:ln/>
        </p:spPr>
        <p:txBody>
          <a:bodyPr wrap="square" rtlCol="0" anchor="t">
            <a:normAutofit/>
          </a:bodyPr>
          <a:lstStyle/>
          <a:p>
            <a:pPr indent="0" marL="0">
              <a:buNone/>
            </a:pPr>
            <a:r>
              <a:rPr lang="en-US" sz="1050" dirty="0">
                <a:solidFill>
                  <a:srgbClr val="4E5D6B"/>
                </a:solidFill>
                <a:latin typeface="Aptos" pitchFamily="34" charset="0"/>
                <a:ea typeface="Aptos" pitchFamily="34" charset="-122"/>
                <a:cs typeface="Aptos" pitchFamily="34" charset="-120"/>
              </a:rPr>
              <a:t>• Primary action should be visible.
</a:t>
            </a:r>
            <a:pPr indent="0" marL="0">
              <a:buNone/>
            </a:pPr>
            <a:r>
              <a:rPr lang="en-US" sz="1050" dirty="0">
                <a:solidFill>
                  <a:srgbClr val="4E5D6B"/>
                </a:solidFill>
                <a:latin typeface="Aptos" pitchFamily="34" charset="0"/>
                <a:ea typeface="Aptos" pitchFamily="34" charset="-122"/>
                <a:cs typeface="Aptos" pitchFamily="34" charset="-120"/>
              </a:rPr>
              <a:t>• Secondary actions should not dominate.
</a:t>
            </a:r>
            <a:pPr indent="0" marL="0">
              <a:buNone/>
            </a:pPr>
            <a:r>
              <a:rPr lang="en-US" sz="1050" dirty="0">
                <a:solidFill>
                  <a:srgbClr val="4E5D6B"/>
                </a:solidFill>
                <a:latin typeface="Aptos" pitchFamily="34" charset="0"/>
                <a:ea typeface="Aptos" pitchFamily="34" charset="-122"/>
                <a:cs typeface="Aptos" pitchFamily="34" charset="-120"/>
              </a:rPr>
              <a:t>• Dangerous actions need separation and confirmation.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Common mistakes in navigation and visual design</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Most weak interfaces fail because they ask users to think about the system rather than their own task.</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12</a:t>
            </a:r>
            <a:endParaRPr lang="en-US" sz="580" dirty="0"/>
          </a:p>
        </p:txBody>
      </p:sp>
      <p:sp>
        <p:nvSpPr>
          <p:cNvPr id="8" name="Text 6"/>
          <p:cNvSpPr/>
          <p:nvPr/>
        </p:nvSpPr>
        <p:spPr>
          <a:xfrm>
            <a:off x="685800" y="1737360"/>
            <a:ext cx="3246120" cy="292608"/>
          </a:xfrm>
          <a:prstGeom prst="rect">
            <a:avLst/>
          </a:prstGeom>
          <a:solidFill>
            <a:srgbClr val="F8D8D8"/>
          </a:solidFill>
          <a:ln>
            <a:solidFill>
              <a:srgbClr val="F8D8D8"/>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Hidden actions</a:t>
            </a:r>
            <a:endParaRPr lang="en-US" sz="1050" dirty="0"/>
          </a:p>
        </p:txBody>
      </p:sp>
      <p:sp>
        <p:nvSpPr>
          <p:cNvPr id="9" name="Text 7"/>
          <p:cNvSpPr/>
          <p:nvPr/>
        </p:nvSpPr>
        <p:spPr>
          <a:xfrm>
            <a:off x="685800" y="2066544"/>
            <a:ext cx="3246120" cy="786384"/>
          </a:xfrm>
          <a:prstGeom prst="rect">
            <a:avLst/>
          </a:prstGeom>
          <a:solidFill>
            <a:srgbClr val="F8D8D8"/>
          </a:solidFill>
          <a:ln>
            <a:solidFill>
              <a:srgbClr val="F8D8D8"/>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Important actions are available only through unclear menus or gestures.</a:t>
            </a:r>
            <a:endParaRPr lang="en-US" sz="820" dirty="0"/>
          </a:p>
        </p:txBody>
      </p:sp>
      <p:sp>
        <p:nvSpPr>
          <p:cNvPr id="10" name="Shape 8"/>
          <p:cNvSpPr/>
          <p:nvPr/>
        </p:nvSpPr>
        <p:spPr>
          <a:xfrm>
            <a:off x="685800" y="2039112"/>
            <a:ext cx="3246120" cy="0"/>
          </a:xfrm>
          <a:prstGeom prst="line">
            <a:avLst/>
          </a:prstGeom>
          <a:noFill/>
          <a:ln w="15240">
            <a:solidFill>
              <a:srgbClr val="BA3E3E">
                <a:alpha val="90000"/>
              </a:srgbClr>
            </a:solidFill>
            <a:prstDash val="solid"/>
          </a:ln>
        </p:spPr>
      </p:sp>
      <p:sp>
        <p:nvSpPr>
          <p:cNvPr id="11" name="Text 9"/>
          <p:cNvSpPr/>
          <p:nvPr/>
        </p:nvSpPr>
        <p:spPr>
          <a:xfrm>
            <a:off x="4343400" y="1737360"/>
            <a:ext cx="3246120" cy="292608"/>
          </a:xfrm>
          <a:prstGeom prst="rect">
            <a:avLst/>
          </a:prstGeom>
          <a:solidFill>
            <a:srgbClr val="FFF5D4"/>
          </a:solidFill>
          <a:ln>
            <a:solidFill>
              <a:srgbClr val="FFF5D4"/>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Inconsistent labels</a:t>
            </a:r>
            <a:endParaRPr lang="en-US" sz="1050" dirty="0"/>
          </a:p>
        </p:txBody>
      </p:sp>
      <p:sp>
        <p:nvSpPr>
          <p:cNvPr id="12" name="Text 10"/>
          <p:cNvSpPr/>
          <p:nvPr/>
        </p:nvSpPr>
        <p:spPr>
          <a:xfrm>
            <a:off x="4343400" y="2066544"/>
            <a:ext cx="3246120" cy="786384"/>
          </a:xfrm>
          <a:prstGeom prst="rect">
            <a:avLst/>
          </a:prstGeom>
          <a:solidFill>
            <a:srgbClr val="FFF5D4"/>
          </a:solidFill>
          <a:ln>
            <a:solidFill>
              <a:srgbClr val="FFF5D4"/>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The same action is described with different terms across screens.</a:t>
            </a:r>
            <a:endParaRPr lang="en-US" sz="820" dirty="0"/>
          </a:p>
        </p:txBody>
      </p:sp>
      <p:sp>
        <p:nvSpPr>
          <p:cNvPr id="13" name="Shape 11"/>
          <p:cNvSpPr/>
          <p:nvPr/>
        </p:nvSpPr>
        <p:spPr>
          <a:xfrm>
            <a:off x="4343400" y="2039112"/>
            <a:ext cx="3246120" cy="0"/>
          </a:xfrm>
          <a:prstGeom prst="line">
            <a:avLst/>
          </a:prstGeom>
          <a:noFill/>
          <a:ln w="15240">
            <a:solidFill>
              <a:srgbClr val="F2A65A">
                <a:alpha val="90000"/>
              </a:srgbClr>
            </a:solidFill>
            <a:prstDash val="solid"/>
          </a:ln>
        </p:spPr>
      </p:sp>
      <p:sp>
        <p:nvSpPr>
          <p:cNvPr id="14" name="Text 12"/>
          <p:cNvSpPr/>
          <p:nvPr/>
        </p:nvSpPr>
        <p:spPr>
          <a:xfrm>
            <a:off x="8001000" y="1737360"/>
            <a:ext cx="324612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Overloaded windows</a:t>
            </a:r>
            <a:endParaRPr lang="en-US" sz="1050" dirty="0"/>
          </a:p>
        </p:txBody>
      </p:sp>
      <p:sp>
        <p:nvSpPr>
          <p:cNvPr id="15" name="Text 13"/>
          <p:cNvSpPr/>
          <p:nvPr/>
        </p:nvSpPr>
        <p:spPr>
          <a:xfrm>
            <a:off x="8001000" y="2066544"/>
            <a:ext cx="3246120" cy="786384"/>
          </a:xfrm>
          <a:prstGeom prst="rect">
            <a:avLst/>
          </a:prstGeom>
          <a:solidFill>
            <a:srgbClr val="FFFFFF"/>
          </a:solidFill>
          <a:ln>
            <a:solidFill>
              <a:srgbClr val="FFFFFF"/>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Too much information is placed in one window without grouping.</a:t>
            </a:r>
            <a:endParaRPr lang="en-US" sz="820" dirty="0"/>
          </a:p>
        </p:txBody>
      </p:sp>
      <p:sp>
        <p:nvSpPr>
          <p:cNvPr id="16" name="Shape 14"/>
          <p:cNvSpPr/>
          <p:nvPr/>
        </p:nvSpPr>
        <p:spPr>
          <a:xfrm>
            <a:off x="8001000" y="2039112"/>
            <a:ext cx="3246120" cy="0"/>
          </a:xfrm>
          <a:prstGeom prst="line">
            <a:avLst/>
          </a:prstGeom>
          <a:noFill/>
          <a:ln w="15240">
            <a:solidFill>
              <a:srgbClr val="F2A65A">
                <a:alpha val="90000"/>
              </a:srgbClr>
            </a:solidFill>
            <a:prstDash val="solid"/>
          </a:ln>
        </p:spPr>
      </p:sp>
      <p:sp>
        <p:nvSpPr>
          <p:cNvPr id="17" name="Text 15"/>
          <p:cNvSpPr/>
          <p:nvPr/>
        </p:nvSpPr>
        <p:spPr>
          <a:xfrm>
            <a:off x="685800" y="3246120"/>
            <a:ext cx="3246120" cy="292608"/>
          </a:xfrm>
          <a:prstGeom prst="rect">
            <a:avLst/>
          </a:prstGeom>
          <a:solidFill>
            <a:srgbClr val="F8D8D8"/>
          </a:solidFill>
          <a:ln>
            <a:solidFill>
              <a:srgbClr val="F8D8D8"/>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Weak feedback</a:t>
            </a:r>
            <a:endParaRPr lang="en-US" sz="1050" dirty="0"/>
          </a:p>
        </p:txBody>
      </p:sp>
      <p:sp>
        <p:nvSpPr>
          <p:cNvPr id="18" name="Text 16"/>
          <p:cNvSpPr/>
          <p:nvPr/>
        </p:nvSpPr>
        <p:spPr>
          <a:xfrm>
            <a:off x="685800" y="3575304"/>
            <a:ext cx="3246120" cy="786384"/>
          </a:xfrm>
          <a:prstGeom prst="rect">
            <a:avLst/>
          </a:prstGeom>
          <a:solidFill>
            <a:srgbClr val="F8D8D8"/>
          </a:solidFill>
          <a:ln>
            <a:solidFill>
              <a:srgbClr val="F8D8D8"/>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Users cannot tell whether the action succeeded, failed, or is still loading.</a:t>
            </a:r>
            <a:endParaRPr lang="en-US" sz="820" dirty="0"/>
          </a:p>
        </p:txBody>
      </p:sp>
      <p:sp>
        <p:nvSpPr>
          <p:cNvPr id="19" name="Shape 17"/>
          <p:cNvSpPr/>
          <p:nvPr/>
        </p:nvSpPr>
        <p:spPr>
          <a:xfrm>
            <a:off x="685800" y="3547872"/>
            <a:ext cx="3246120" cy="0"/>
          </a:xfrm>
          <a:prstGeom prst="line">
            <a:avLst/>
          </a:prstGeom>
          <a:noFill/>
          <a:ln w="15240">
            <a:solidFill>
              <a:srgbClr val="BA3E3E">
                <a:alpha val="90000"/>
              </a:srgbClr>
            </a:solidFill>
            <a:prstDash val="solid"/>
          </a:ln>
        </p:spPr>
      </p:sp>
      <p:sp>
        <p:nvSpPr>
          <p:cNvPr id="20" name="Text 18"/>
          <p:cNvSpPr/>
          <p:nvPr/>
        </p:nvSpPr>
        <p:spPr>
          <a:xfrm>
            <a:off x="4343400" y="3246120"/>
            <a:ext cx="3246120" cy="292608"/>
          </a:xfrm>
          <a:prstGeom prst="rect">
            <a:avLst/>
          </a:prstGeom>
          <a:solidFill>
            <a:srgbClr val="FFF5D4"/>
          </a:solidFill>
          <a:ln>
            <a:solidFill>
              <a:srgbClr val="FFF5D4"/>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Poor colour use</a:t>
            </a:r>
            <a:endParaRPr lang="en-US" sz="1050" dirty="0"/>
          </a:p>
        </p:txBody>
      </p:sp>
      <p:sp>
        <p:nvSpPr>
          <p:cNvPr id="21" name="Text 19"/>
          <p:cNvSpPr/>
          <p:nvPr/>
        </p:nvSpPr>
        <p:spPr>
          <a:xfrm>
            <a:off x="4343400" y="3575304"/>
            <a:ext cx="3246120" cy="786384"/>
          </a:xfrm>
          <a:prstGeom prst="rect">
            <a:avLst/>
          </a:prstGeom>
          <a:solidFill>
            <a:srgbClr val="FFF5D4"/>
          </a:solidFill>
          <a:ln>
            <a:solidFill>
              <a:srgbClr val="FFF5D4"/>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Colour is decorative, inconsistent, or has insufficient contrast.</a:t>
            </a:r>
            <a:endParaRPr lang="en-US" sz="820" dirty="0"/>
          </a:p>
        </p:txBody>
      </p:sp>
      <p:sp>
        <p:nvSpPr>
          <p:cNvPr id="22" name="Shape 20"/>
          <p:cNvSpPr/>
          <p:nvPr/>
        </p:nvSpPr>
        <p:spPr>
          <a:xfrm>
            <a:off x="4343400" y="3547872"/>
            <a:ext cx="3246120" cy="0"/>
          </a:xfrm>
          <a:prstGeom prst="line">
            <a:avLst/>
          </a:prstGeom>
          <a:noFill/>
          <a:ln w="15240">
            <a:solidFill>
              <a:srgbClr val="F2A65A">
                <a:alpha val="90000"/>
              </a:srgbClr>
            </a:solidFill>
            <a:prstDash val="solid"/>
          </a:ln>
        </p:spPr>
      </p:sp>
      <p:sp>
        <p:nvSpPr>
          <p:cNvPr id="23" name="Text 21"/>
          <p:cNvSpPr/>
          <p:nvPr/>
        </p:nvSpPr>
        <p:spPr>
          <a:xfrm>
            <a:off x="8001000" y="3246120"/>
            <a:ext cx="324612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Unclear controls</a:t>
            </a:r>
            <a:endParaRPr lang="en-US" sz="1050" dirty="0"/>
          </a:p>
        </p:txBody>
      </p:sp>
      <p:sp>
        <p:nvSpPr>
          <p:cNvPr id="24" name="Text 22"/>
          <p:cNvSpPr/>
          <p:nvPr/>
        </p:nvSpPr>
        <p:spPr>
          <a:xfrm>
            <a:off x="8001000" y="3575304"/>
            <a:ext cx="3246120" cy="786384"/>
          </a:xfrm>
          <a:prstGeom prst="rect">
            <a:avLst/>
          </a:prstGeom>
          <a:solidFill>
            <a:srgbClr val="FFFFFF"/>
          </a:solidFill>
          <a:ln>
            <a:solidFill>
              <a:srgbClr val="FFFFFF"/>
            </a:solidFill>
          </a:ln>
        </p:spPr>
        <p:txBody>
          <a:bodyPr wrap="square" rtlCol="0" anchor="t">
            <a:normAutofit/>
          </a:bodyPr>
          <a:lstStyle/>
          <a:p>
            <a:pPr indent="0" marL="0">
              <a:buNone/>
            </a:pPr>
            <a:r>
              <a:rPr lang="en-US" sz="820" dirty="0">
                <a:solidFill>
                  <a:srgbClr val="4E5D6B"/>
                </a:solidFill>
                <a:latin typeface="Aptos" pitchFamily="34" charset="0"/>
                <a:ea typeface="Aptos" pitchFamily="34" charset="-122"/>
                <a:cs typeface="Aptos" pitchFamily="34" charset="-120"/>
              </a:rPr>
              <a:t>A control does not match the required input or decision type.</a:t>
            </a:r>
            <a:endParaRPr lang="en-US" sz="820" dirty="0"/>
          </a:p>
        </p:txBody>
      </p:sp>
      <p:sp>
        <p:nvSpPr>
          <p:cNvPr id="25" name="Shape 23"/>
          <p:cNvSpPr/>
          <p:nvPr/>
        </p:nvSpPr>
        <p:spPr>
          <a:xfrm>
            <a:off x="8001000" y="3547872"/>
            <a:ext cx="3246120" cy="0"/>
          </a:xfrm>
          <a:prstGeom prst="line">
            <a:avLst/>
          </a:prstGeom>
          <a:noFill/>
          <a:ln w="15240">
            <a:solidFill>
              <a:srgbClr val="F2A65A">
                <a:alpha val="90000"/>
              </a:srgbClr>
            </a:solidFill>
            <a:prstDash val="solid"/>
          </a:ln>
        </p:spPr>
      </p:sp>
      <p:sp>
        <p:nvSpPr>
          <p:cNvPr id="26" name="Text 24"/>
          <p:cNvSpPr/>
          <p:nvPr/>
        </p:nvSpPr>
        <p:spPr>
          <a:xfrm>
            <a:off x="1554480" y="5257800"/>
            <a:ext cx="9052560" cy="457200"/>
          </a:xfrm>
          <a:prstGeom prst="rect">
            <a:avLst/>
          </a:prstGeom>
          <a:solidFill>
            <a:srgbClr val="112E42"/>
          </a:solidFill>
          <a:ln>
            <a:solidFill>
              <a:srgbClr val="112E42"/>
            </a:solidFill>
          </a:ln>
        </p:spPr>
        <p:txBody>
          <a:bodyPr wrap="square"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A simple, predictable interface is usually better than a clever but confusing one.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Project 1 continuation: from requirements to layout</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This week students should revise the Project 1 wireframe using navigation, windows, controls and visual principles.</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13</a:t>
            </a:r>
            <a:endParaRPr lang="en-US" sz="580" dirty="0"/>
          </a:p>
        </p:txBody>
      </p:sp>
      <p:pic>
        <p:nvPicPr>
          <p:cNvPr id="8" name="Image 0" descr="/mnt/data/a_warm_clean_vector_flat_illustration_style_scene_batch_5.png">    </p:cNvPr>
          <p:cNvPicPr>
            <a:picLocks noChangeAspect="1"/>
          </p:cNvPicPr>
          <p:nvPr/>
        </p:nvPicPr>
        <p:blipFill>
          <a:blip r:embed="rId1"/>
          <a:srcRect l="5139" r="5139" t="0" b="0"/>
          <a:stretch/>
        </p:blipFill>
        <p:spPr>
          <a:xfrm>
            <a:off x="685800" y="1783080"/>
            <a:ext cx="5029200" cy="3154680"/>
          </a:xfrm>
          <a:prstGeom prst="rect">
            <a:avLst/>
          </a:prstGeom>
        </p:spPr>
      </p:pic>
      <p:sp>
        <p:nvSpPr>
          <p:cNvPr id="9" name="Text 6"/>
          <p:cNvSpPr/>
          <p:nvPr/>
        </p:nvSpPr>
        <p:spPr>
          <a:xfrm>
            <a:off x="6172200" y="1737360"/>
            <a:ext cx="4663440" cy="292608"/>
          </a:xfrm>
          <a:prstGeom prst="rect">
            <a:avLst/>
          </a:prstGeom>
          <a:solidFill>
            <a:srgbClr val="EEF6FF"/>
          </a:solidFill>
          <a:ln>
            <a:solidFill>
              <a:srgbClr val="EEF6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Update your project idea</a:t>
            </a:r>
            <a:endParaRPr lang="en-US" sz="1050" dirty="0"/>
          </a:p>
        </p:txBody>
      </p:sp>
      <p:sp>
        <p:nvSpPr>
          <p:cNvPr id="10" name="Text 7"/>
          <p:cNvSpPr/>
          <p:nvPr/>
        </p:nvSpPr>
        <p:spPr>
          <a:xfrm>
            <a:off x="6172200" y="2066544"/>
            <a:ext cx="4663440" cy="493776"/>
          </a:xfrm>
          <a:prstGeom prst="rect">
            <a:avLst/>
          </a:prstGeom>
          <a:solidFill>
            <a:srgbClr val="EEF6FF"/>
          </a:solidFill>
          <a:ln>
            <a:solidFill>
              <a:srgbClr val="EEF6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Confirm the application domain, target users and main user tasks.</a:t>
            </a:r>
            <a:endParaRPr lang="en-US" sz="860" dirty="0"/>
          </a:p>
        </p:txBody>
      </p:sp>
      <p:sp>
        <p:nvSpPr>
          <p:cNvPr id="11" name="Shape 8"/>
          <p:cNvSpPr/>
          <p:nvPr/>
        </p:nvSpPr>
        <p:spPr>
          <a:xfrm>
            <a:off x="6172200" y="2039112"/>
            <a:ext cx="4663440" cy="0"/>
          </a:xfrm>
          <a:prstGeom prst="line">
            <a:avLst/>
          </a:prstGeom>
          <a:noFill/>
          <a:ln w="15240">
            <a:solidFill>
              <a:srgbClr val="2E6FD8">
                <a:alpha val="90000"/>
              </a:srgbClr>
            </a:solidFill>
            <a:prstDash val="solid"/>
          </a:ln>
        </p:spPr>
      </p:sp>
      <p:sp>
        <p:nvSpPr>
          <p:cNvPr id="12" name="Text 9"/>
          <p:cNvSpPr/>
          <p:nvPr/>
        </p:nvSpPr>
        <p:spPr>
          <a:xfrm>
            <a:off x="6172200" y="2743200"/>
            <a:ext cx="4663440" cy="292608"/>
          </a:xfrm>
          <a:prstGeom prst="rect">
            <a:avLst/>
          </a:prstGeom>
          <a:solidFill>
            <a:srgbClr val="DFF1E6"/>
          </a:solidFill>
          <a:ln>
            <a:solidFill>
              <a:srgbClr val="DFF1E6"/>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Define navigation</a:t>
            </a:r>
            <a:endParaRPr lang="en-US" sz="1050" dirty="0"/>
          </a:p>
        </p:txBody>
      </p:sp>
      <p:sp>
        <p:nvSpPr>
          <p:cNvPr id="13" name="Text 10"/>
          <p:cNvSpPr/>
          <p:nvPr/>
        </p:nvSpPr>
        <p:spPr>
          <a:xfrm>
            <a:off x="6172200" y="3072384"/>
            <a:ext cx="4663440" cy="493776"/>
          </a:xfrm>
          <a:prstGeom prst="rect">
            <a:avLst/>
          </a:prstGeom>
          <a:solidFill>
            <a:srgbClr val="DFF1E6"/>
          </a:solidFill>
          <a:ln>
            <a:solidFill>
              <a:srgbClr val="DFF1E6"/>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Decide how the user moves between screens and returns to previous states.</a:t>
            </a:r>
            <a:endParaRPr lang="en-US" sz="860" dirty="0"/>
          </a:p>
        </p:txBody>
      </p:sp>
      <p:sp>
        <p:nvSpPr>
          <p:cNvPr id="14" name="Shape 11"/>
          <p:cNvSpPr/>
          <p:nvPr/>
        </p:nvSpPr>
        <p:spPr>
          <a:xfrm>
            <a:off x="6172200" y="3044952"/>
            <a:ext cx="4663440" cy="0"/>
          </a:xfrm>
          <a:prstGeom prst="line">
            <a:avLst/>
          </a:prstGeom>
          <a:noFill/>
          <a:ln w="15240">
            <a:solidFill>
              <a:srgbClr val="5C8A6B">
                <a:alpha val="90000"/>
              </a:srgbClr>
            </a:solidFill>
            <a:prstDash val="solid"/>
          </a:ln>
        </p:spPr>
      </p:sp>
      <p:sp>
        <p:nvSpPr>
          <p:cNvPr id="15" name="Text 12"/>
          <p:cNvSpPr/>
          <p:nvPr/>
        </p:nvSpPr>
        <p:spPr>
          <a:xfrm>
            <a:off x="6172200" y="3749040"/>
            <a:ext cx="4663440" cy="292608"/>
          </a:xfrm>
          <a:prstGeom prst="rect">
            <a:avLst/>
          </a:prstGeom>
          <a:solidFill>
            <a:srgbClr val="FFF5D4"/>
          </a:solidFill>
          <a:ln>
            <a:solidFill>
              <a:srgbClr val="FFF5D4"/>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Choose controls</a:t>
            </a:r>
            <a:endParaRPr lang="en-US" sz="1050" dirty="0"/>
          </a:p>
        </p:txBody>
      </p:sp>
      <p:sp>
        <p:nvSpPr>
          <p:cNvPr id="16" name="Text 13"/>
          <p:cNvSpPr/>
          <p:nvPr/>
        </p:nvSpPr>
        <p:spPr>
          <a:xfrm>
            <a:off x="6172200" y="4078224"/>
            <a:ext cx="4663440" cy="493776"/>
          </a:xfrm>
          <a:prstGeom prst="rect">
            <a:avLst/>
          </a:prstGeom>
          <a:solidFill>
            <a:srgbClr val="FFF5D4"/>
          </a:solidFill>
          <a:ln>
            <a:solidFill>
              <a:srgbClr val="FFF5D4"/>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Match each input field and action button to the user requirement.</a:t>
            </a:r>
            <a:endParaRPr lang="en-US" sz="860" dirty="0"/>
          </a:p>
        </p:txBody>
      </p:sp>
      <p:sp>
        <p:nvSpPr>
          <p:cNvPr id="17" name="Shape 14"/>
          <p:cNvSpPr/>
          <p:nvPr/>
        </p:nvSpPr>
        <p:spPr>
          <a:xfrm>
            <a:off x="6172200" y="4050792"/>
            <a:ext cx="4663440" cy="0"/>
          </a:xfrm>
          <a:prstGeom prst="line">
            <a:avLst/>
          </a:prstGeom>
          <a:noFill/>
          <a:ln w="15240">
            <a:solidFill>
              <a:srgbClr val="F2A65A">
                <a:alpha val="90000"/>
              </a:srgbClr>
            </a:solidFill>
            <a:prstDash val="solid"/>
          </a:ln>
        </p:spPr>
      </p:sp>
      <p:sp>
        <p:nvSpPr>
          <p:cNvPr id="18" name="Text 15"/>
          <p:cNvSpPr/>
          <p:nvPr/>
        </p:nvSpPr>
        <p:spPr>
          <a:xfrm>
            <a:off x="6172200" y="4754880"/>
            <a:ext cx="4663440" cy="292608"/>
          </a:xfrm>
          <a:prstGeom prst="rect">
            <a:avLst/>
          </a:prstGeom>
          <a:solidFill>
            <a:srgbClr val="F1EEFF"/>
          </a:solidFill>
          <a:ln>
            <a:solidFill>
              <a:srgbClr val="F1EEFF"/>
            </a:solidFill>
          </a:ln>
        </p:spPr>
        <p:txBody>
          <a:bodyPr wrap="square" rtlCol="0" anchor="ctr">
            <a:normAutofit/>
          </a:bodyPr>
          <a:lstStyle/>
          <a:p>
            <a:pPr indent="0" marL="0">
              <a:buNone/>
            </a:pPr>
            <a:r>
              <a:rPr lang="en-US" sz="1050" b="1" dirty="0">
                <a:solidFill>
                  <a:srgbClr val="112E42"/>
                </a:solidFill>
                <a:latin typeface="Aptos" pitchFamily="34" charset="0"/>
                <a:ea typeface="Aptos" pitchFamily="34" charset="-122"/>
                <a:cs typeface="Aptos" pitchFamily="34" charset="-120"/>
              </a:rPr>
              <a:t>Add visual rules</a:t>
            </a:r>
            <a:endParaRPr lang="en-US" sz="1050" dirty="0"/>
          </a:p>
        </p:txBody>
      </p:sp>
      <p:sp>
        <p:nvSpPr>
          <p:cNvPr id="19" name="Text 16"/>
          <p:cNvSpPr/>
          <p:nvPr/>
        </p:nvSpPr>
        <p:spPr>
          <a:xfrm>
            <a:off x="6172200" y="5084064"/>
            <a:ext cx="4663440" cy="493776"/>
          </a:xfrm>
          <a:prstGeom prst="rect">
            <a:avLst/>
          </a:prstGeom>
          <a:solidFill>
            <a:srgbClr val="F1EEFF"/>
          </a:solidFill>
          <a:ln>
            <a:solidFill>
              <a:srgbClr val="F1EEFF"/>
            </a:solidFill>
          </a:ln>
        </p:spPr>
        <p:txBody>
          <a:bodyPr wrap="square" rtlCol="0" anchor="t">
            <a:normAutofit/>
          </a:bodyPr>
          <a:lstStyle/>
          <a:p>
            <a:pPr indent="0" marL="0">
              <a:buNone/>
            </a:pPr>
            <a:r>
              <a:rPr lang="en-US" sz="860" dirty="0">
                <a:solidFill>
                  <a:srgbClr val="4E5D6B"/>
                </a:solidFill>
                <a:latin typeface="Aptos" pitchFamily="34" charset="0"/>
                <a:ea typeface="Aptos" pitchFamily="34" charset="-122"/>
                <a:cs typeface="Aptos" pitchFamily="34" charset="-120"/>
              </a:rPr>
              <a:t>Specify colours, icons, grouping and the primary action on each screen.</a:t>
            </a:r>
            <a:endParaRPr lang="en-US" sz="860" dirty="0"/>
          </a:p>
        </p:txBody>
      </p:sp>
      <p:sp>
        <p:nvSpPr>
          <p:cNvPr id="20" name="Shape 17"/>
          <p:cNvSpPr/>
          <p:nvPr/>
        </p:nvSpPr>
        <p:spPr>
          <a:xfrm>
            <a:off x="6172200" y="5056632"/>
            <a:ext cx="4663440" cy="0"/>
          </a:xfrm>
          <a:prstGeom prst="line">
            <a:avLst/>
          </a:prstGeom>
          <a:noFill/>
          <a:ln w="15240">
            <a:solidFill>
              <a:srgbClr val="7C6ACB">
                <a:alpha val="9000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In-class activity: critique and improve a screen</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Work in pairs. Use the checklist to evaluate one Project 1 screen or rough wireframe.</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14</a:t>
            </a:r>
            <a:endParaRPr lang="en-US" sz="580" dirty="0"/>
          </a:p>
        </p:txBody>
      </p:sp>
      <p:pic>
        <p:nvPicPr>
          <p:cNvPr id="8" name="Image 0" descr="/mnt/data/a_wide_clean_flat_vector_illustration_style_scen_batch_3.png">    </p:cNvPr>
          <p:cNvPicPr>
            <a:picLocks noChangeAspect="1"/>
          </p:cNvPicPr>
          <p:nvPr/>
        </p:nvPicPr>
        <p:blipFill>
          <a:blip r:embed="rId1"/>
          <a:srcRect l="5521" r="5521" t="0" b="0"/>
          <a:stretch/>
        </p:blipFill>
        <p:spPr>
          <a:xfrm>
            <a:off x="731520" y="1920240"/>
            <a:ext cx="4480560" cy="2834640"/>
          </a:xfrm>
          <a:prstGeom prst="rect">
            <a:avLst/>
          </a:prstGeom>
        </p:spPr>
      </p:pic>
      <p:sp>
        <p:nvSpPr>
          <p:cNvPr id="9" name="Text 6"/>
          <p:cNvSpPr/>
          <p:nvPr/>
        </p:nvSpPr>
        <p:spPr>
          <a:xfrm>
            <a:off x="5669280" y="1737360"/>
            <a:ext cx="530352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100" b="1" dirty="0">
                <a:solidFill>
                  <a:srgbClr val="112E42"/>
                </a:solidFill>
                <a:latin typeface="Aptos" pitchFamily="34" charset="0"/>
                <a:ea typeface="Aptos" pitchFamily="34" charset="-122"/>
                <a:cs typeface="Aptos" pitchFamily="34" charset="-120"/>
              </a:rPr>
              <a:t>Task</a:t>
            </a:r>
            <a:endParaRPr lang="en-US" sz="1100" dirty="0"/>
          </a:p>
        </p:txBody>
      </p:sp>
      <p:sp>
        <p:nvSpPr>
          <p:cNvPr id="10" name="Text 7"/>
          <p:cNvSpPr/>
          <p:nvPr/>
        </p:nvSpPr>
        <p:spPr>
          <a:xfrm>
            <a:off x="5669280" y="2066544"/>
            <a:ext cx="5303520" cy="630936"/>
          </a:xfrm>
          <a:prstGeom prst="rect">
            <a:avLst/>
          </a:prstGeom>
          <a:solidFill>
            <a:srgbClr val="FFFFFF"/>
          </a:solidFill>
          <a:ln>
            <a:solidFill>
              <a:srgbClr val="FFFFFF"/>
            </a:solidFill>
          </a:ln>
        </p:spPr>
        <p:txBody>
          <a:bodyPr wrap="square" rtlCol="0" anchor="t">
            <a:normAutofit/>
          </a:bodyPr>
          <a:lstStyle/>
          <a:p>
            <a:pPr indent="0" marL="0">
              <a:buNone/>
            </a:pPr>
            <a:r>
              <a:rPr lang="en-US" sz="880" dirty="0">
                <a:solidFill>
                  <a:srgbClr val="4E5D6B"/>
                </a:solidFill>
                <a:latin typeface="Aptos" pitchFamily="34" charset="0"/>
                <a:ea typeface="Aptos" pitchFamily="34" charset="-122"/>
                <a:cs typeface="Aptos" pitchFamily="34" charset="-120"/>
              </a:rPr>
              <a:t>Choose one project screen. Identify the primary task, navigation pattern, window type, controls, feedback, and visual hierarchy.</a:t>
            </a:r>
            <a:endParaRPr lang="en-US" sz="880" dirty="0"/>
          </a:p>
        </p:txBody>
      </p:sp>
      <p:sp>
        <p:nvSpPr>
          <p:cNvPr id="11" name="Shape 8"/>
          <p:cNvSpPr/>
          <p:nvPr/>
        </p:nvSpPr>
        <p:spPr>
          <a:xfrm>
            <a:off x="5669280" y="2039112"/>
            <a:ext cx="5303520" cy="0"/>
          </a:xfrm>
          <a:prstGeom prst="line">
            <a:avLst/>
          </a:prstGeom>
          <a:noFill/>
          <a:ln w="15240">
            <a:solidFill>
              <a:srgbClr val="2E6FD8">
                <a:alpha val="90000"/>
              </a:srgbClr>
            </a:solidFill>
            <a:prstDash val="solid"/>
          </a:ln>
        </p:spPr>
      </p:sp>
      <p:sp>
        <p:nvSpPr>
          <p:cNvPr id="12" name="Text 9"/>
          <p:cNvSpPr/>
          <p:nvPr/>
        </p:nvSpPr>
        <p:spPr>
          <a:xfrm>
            <a:off x="5669280" y="2971800"/>
            <a:ext cx="5303520" cy="292608"/>
          </a:xfrm>
          <a:prstGeom prst="rect">
            <a:avLst/>
          </a:prstGeom>
          <a:solidFill>
            <a:srgbClr val="FFF5D4"/>
          </a:solidFill>
          <a:ln>
            <a:solidFill>
              <a:srgbClr val="FFF5D4"/>
            </a:solidFill>
          </a:ln>
        </p:spPr>
        <p:txBody>
          <a:bodyPr wrap="square" rtlCol="0" anchor="ctr">
            <a:normAutofit/>
          </a:bodyPr>
          <a:lstStyle/>
          <a:p>
            <a:pPr indent="0" marL="0">
              <a:buNone/>
            </a:pPr>
            <a:r>
              <a:rPr lang="en-US" sz="1100" b="1" dirty="0">
                <a:solidFill>
                  <a:srgbClr val="112E42"/>
                </a:solidFill>
                <a:latin typeface="Aptos" pitchFamily="34" charset="0"/>
                <a:ea typeface="Aptos" pitchFamily="34" charset="-122"/>
                <a:cs typeface="Aptos" pitchFamily="34" charset="-120"/>
              </a:rPr>
              <a:t>Discussion questions</a:t>
            </a:r>
            <a:endParaRPr lang="en-US" sz="1100" dirty="0"/>
          </a:p>
        </p:txBody>
      </p:sp>
      <p:sp>
        <p:nvSpPr>
          <p:cNvPr id="13" name="Text 10"/>
          <p:cNvSpPr/>
          <p:nvPr/>
        </p:nvSpPr>
        <p:spPr>
          <a:xfrm>
            <a:off x="5669280" y="3300984"/>
            <a:ext cx="5303520" cy="1316736"/>
          </a:xfrm>
          <a:prstGeom prst="rect">
            <a:avLst/>
          </a:prstGeom>
          <a:solidFill>
            <a:srgbClr val="FFF5D4"/>
          </a:solidFill>
          <a:ln>
            <a:solidFill>
              <a:srgbClr val="FFF5D4"/>
            </a:solidFill>
          </a:ln>
        </p:spPr>
        <p:txBody>
          <a:bodyPr wrap="square" rtlCol="0" anchor="t">
            <a:normAutofit/>
          </a:bodyPr>
          <a:lstStyle/>
          <a:p>
            <a:pPr indent="0" marL="0">
              <a:buNone/>
            </a:pPr>
            <a:r>
              <a:rPr lang="en-US" sz="840" dirty="0">
                <a:solidFill>
                  <a:srgbClr val="4E5D6B"/>
                </a:solidFill>
                <a:latin typeface="Aptos" pitchFamily="34" charset="0"/>
                <a:ea typeface="Aptos" pitchFamily="34" charset="-122"/>
                <a:cs typeface="Aptos" pitchFamily="34" charset="-120"/>
              </a:rPr>
              <a:t>1. What is the user trying to do?</a:t>
            </a:r>
            <a:endParaRPr lang="en-US" sz="840" dirty="0"/>
          </a:p>
          <a:p>
            <a:pPr indent="0" marL="0">
              <a:buNone/>
            </a:pPr>
            <a:r>
              <a:rPr lang="en-US" sz="840" dirty="0">
                <a:solidFill>
                  <a:srgbClr val="4E5D6B"/>
                </a:solidFill>
                <a:latin typeface="Aptos" pitchFamily="34" charset="0"/>
                <a:ea typeface="Aptos" pitchFamily="34" charset="-122"/>
                <a:cs typeface="Aptos" pitchFamily="34" charset="-120"/>
              </a:rPr>
              <a:t>2. Is the primary action clear?</a:t>
            </a:r>
            <a:endParaRPr lang="en-US" sz="840" dirty="0"/>
          </a:p>
          <a:p>
            <a:pPr indent="0" marL="0">
              <a:buNone/>
            </a:pPr>
            <a:r>
              <a:rPr lang="en-US" sz="840" dirty="0">
                <a:solidFill>
                  <a:srgbClr val="4E5D6B"/>
                </a:solidFill>
                <a:latin typeface="Aptos" pitchFamily="34" charset="0"/>
                <a:ea typeface="Aptos" pitchFamily="34" charset="-122"/>
                <a:cs typeface="Aptos" pitchFamily="34" charset="-120"/>
              </a:rPr>
              <a:t>3. Are the controls appropriate?</a:t>
            </a:r>
            <a:endParaRPr lang="en-US" sz="840" dirty="0"/>
          </a:p>
          <a:p>
            <a:pPr indent="0" marL="0">
              <a:buNone/>
            </a:pPr>
            <a:r>
              <a:rPr lang="en-US" sz="840" dirty="0">
                <a:solidFill>
                  <a:srgbClr val="4E5D6B"/>
                </a:solidFill>
                <a:latin typeface="Aptos" pitchFamily="34" charset="0"/>
                <a:ea typeface="Aptos" pitchFamily="34" charset="-122"/>
                <a:cs typeface="Aptos" pitchFamily="34" charset="-120"/>
              </a:rPr>
              <a:t>4. Is feedback visible?</a:t>
            </a:r>
            <a:endParaRPr lang="en-US" sz="840" dirty="0"/>
          </a:p>
          <a:p>
            <a:pPr indent="0" marL="0">
              <a:buNone/>
            </a:pPr>
            <a:r>
              <a:rPr lang="en-US" sz="840" dirty="0">
                <a:solidFill>
                  <a:srgbClr val="4E5D6B"/>
                </a:solidFill>
                <a:latin typeface="Aptos" pitchFamily="34" charset="0"/>
                <a:ea typeface="Aptos" pitchFamily="34" charset="-122"/>
                <a:cs typeface="Aptos" pitchFamily="34" charset="-120"/>
              </a:rPr>
              <a:t>5. What should be simplified?</a:t>
            </a:r>
            <a:endParaRPr lang="en-US" sz="840" dirty="0"/>
          </a:p>
        </p:txBody>
      </p:sp>
      <p:sp>
        <p:nvSpPr>
          <p:cNvPr id="14" name="Shape 11"/>
          <p:cNvSpPr/>
          <p:nvPr/>
        </p:nvSpPr>
        <p:spPr>
          <a:xfrm>
            <a:off x="5669280" y="3273552"/>
            <a:ext cx="5303520" cy="0"/>
          </a:xfrm>
          <a:prstGeom prst="line">
            <a:avLst/>
          </a:prstGeom>
          <a:noFill/>
          <a:ln w="15240">
            <a:solidFill>
              <a:srgbClr val="F2A65A">
                <a:alpha val="90000"/>
              </a:srgbClr>
            </a:solidFill>
            <a:prstDash val="solid"/>
          </a:ln>
        </p:spPr>
      </p:sp>
      <p:sp>
        <p:nvSpPr>
          <p:cNvPr id="15" name="Text 12"/>
          <p:cNvSpPr/>
          <p:nvPr/>
        </p:nvSpPr>
        <p:spPr>
          <a:xfrm>
            <a:off x="1371600" y="5486400"/>
            <a:ext cx="9326880" cy="411480"/>
          </a:xfrm>
          <a:prstGeom prst="rect">
            <a:avLst/>
          </a:prstGeom>
          <a:solidFill>
            <a:srgbClr val="112E42"/>
          </a:solidFill>
          <a:ln>
            <a:solidFill>
              <a:srgbClr val="112E42"/>
            </a:solidFill>
          </a:ln>
        </p:spPr>
        <p:txBody>
          <a:bodyPr wrap="square"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Deliverable: one improved wireframe decision and one reason for the improvement.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AFD"/>
        </a:solidFill>
      </p:bgPr>
    </p:bg>
    <p:spTree>
      <p:nvGrpSpPr>
        <p:cNvPr id="1" name=""/>
        <p:cNvGrpSpPr/>
        <p:nvPr/>
      </p:nvGrpSpPr>
      <p:grpSpPr>
        <a:xfrm>
          <a:off x="0" y="0"/>
          <a:ext cx="0" cy="0"/>
          <a:chOff x="0" y="0"/>
          <a:chExt cx="0" cy="0"/>
        </a:xfrm>
      </p:grpSpPr>
      <p:sp>
        <p:nvSpPr>
          <p:cNvPr id="2" name="Text 0"/>
          <p:cNvSpPr/>
          <p:nvPr/>
        </p:nvSpPr>
        <p:spPr>
          <a:xfrm>
            <a:off x="502920" y="347472"/>
            <a:ext cx="685800" cy="182880"/>
          </a:xfrm>
          <a:prstGeom prst="rect">
            <a:avLst/>
          </a:prstGeom>
          <a:solidFill>
            <a:srgbClr val="EEF6FF"/>
          </a:solidFill>
          <a:ln/>
        </p:spPr>
        <p:txBody>
          <a:bodyPr wrap="square" rtlCol="0" anchor="ctr">
            <a:normAutofit/>
          </a:bodyPr>
          <a:lstStyle/>
          <a:p>
            <a:pPr algn="ctr" indent="0" marL="0">
              <a:buNone/>
            </a:pPr>
            <a:r>
              <a:rPr lang="en-US" sz="650" b="1" dirty="0">
                <a:solidFill>
                  <a:srgbClr val="2E6FD8"/>
                </a:solidFill>
                <a:latin typeface="Aptos" pitchFamily="34" charset="0"/>
                <a:ea typeface="Aptos" pitchFamily="34" charset="-122"/>
                <a:cs typeface="Aptos" pitchFamily="34" charset="-120"/>
              </a:rPr>
              <a:t>W4</a:t>
            </a:r>
            <a:endParaRPr lang="en-US" sz="650" dirty="0"/>
          </a:p>
        </p:txBody>
      </p:sp>
      <p:sp>
        <p:nvSpPr>
          <p:cNvPr id="3" name="Text 1"/>
          <p:cNvSpPr/>
          <p:nvPr/>
        </p:nvSpPr>
        <p:spPr>
          <a:xfrm>
            <a:off x="502920" y="566928"/>
            <a:ext cx="7040880" cy="420624"/>
          </a:xfrm>
          <a:prstGeom prst="rect">
            <a:avLst/>
          </a:prstGeom>
          <a:noFill/>
          <a:ln/>
        </p:spPr>
        <p:txBody>
          <a:bodyPr wrap="square" lIns="0" tIns="0" rIns="0" bIns="0" rtlCol="0" anchor="ctr">
            <a:normAutofit/>
          </a:bodyPr>
          <a:lstStyle/>
          <a:p>
            <a:pPr indent="0" marL="0">
              <a:buNone/>
            </a:pPr>
            <a:r>
              <a:rPr lang="en-US" sz="2100" b="1" dirty="0">
                <a:solidFill>
                  <a:srgbClr val="112E42"/>
                </a:solidFill>
                <a:latin typeface="Aptos Display" pitchFamily="34" charset="0"/>
                <a:ea typeface="Aptos Display" pitchFamily="34" charset="-122"/>
                <a:cs typeface="Aptos Display" pitchFamily="34" charset="-120"/>
              </a:rPr>
              <a:t>Summary and preparation for next week</a:t>
            </a:r>
            <a:endParaRPr lang="en-US" sz="2100" dirty="0"/>
          </a:p>
        </p:txBody>
      </p:sp>
      <p:sp>
        <p:nvSpPr>
          <p:cNvPr id="4" name="Text 2"/>
          <p:cNvSpPr/>
          <p:nvPr/>
        </p:nvSpPr>
        <p:spPr>
          <a:xfrm>
            <a:off x="502920" y="1024128"/>
            <a:ext cx="7315200" cy="256032"/>
          </a:xfrm>
          <a:prstGeom prst="rect">
            <a:avLst/>
          </a:prstGeom>
          <a:noFill/>
          <a:ln/>
        </p:spPr>
        <p:txBody>
          <a:bodyPr wrap="square" lIns="0" tIns="0" rIns="0" bIns="0" rtlCol="0" anchor="ctr">
            <a:normAutofit/>
          </a:bodyPr>
          <a:lstStyle/>
          <a:p>
            <a:pPr indent="0" marL="0">
              <a:buNone/>
            </a:pPr>
            <a:r>
              <a:rPr lang="en-US" sz="830" dirty="0">
                <a:solidFill>
                  <a:srgbClr val="4E5D6B"/>
                </a:solidFill>
                <a:latin typeface="Aptos" pitchFamily="34" charset="0"/>
                <a:ea typeface="Aptos" pitchFamily="34" charset="-122"/>
                <a:cs typeface="Aptos" pitchFamily="34" charset="-120"/>
              </a:rPr>
              <a:t>Navigation, windows, input controls, colours and graphical elements turn requirements into usable screens.</a:t>
            </a:r>
            <a:endParaRPr lang="en-US" sz="830" dirty="0"/>
          </a:p>
        </p:txBody>
      </p:sp>
      <p:sp>
        <p:nvSpPr>
          <p:cNvPr id="5" name="Shape 3"/>
          <p:cNvSpPr/>
          <p:nvPr/>
        </p:nvSpPr>
        <p:spPr>
          <a:xfrm>
            <a:off x="502920" y="1399032"/>
            <a:ext cx="11109960" cy="0"/>
          </a:xfrm>
          <a:prstGeom prst="line">
            <a:avLst/>
          </a:prstGeom>
          <a:noFill/>
          <a:ln w="12700">
            <a:solidFill>
              <a:srgbClr val="E2E8F0"/>
            </a:solidFill>
            <a:prstDash val="solid"/>
          </a:ln>
        </p:spPr>
      </p:sp>
      <p:sp>
        <p:nvSpPr>
          <p:cNvPr id="6" name="Text 4"/>
          <p:cNvSpPr/>
          <p:nvPr/>
        </p:nvSpPr>
        <p:spPr>
          <a:xfrm>
            <a:off x="320040" y="6537960"/>
            <a:ext cx="4023360" cy="137160"/>
          </a:xfrm>
          <a:prstGeom prst="rect">
            <a:avLst/>
          </a:prstGeom>
          <a:noFill/>
          <a:ln/>
        </p:spPr>
        <p:txBody>
          <a:bodyPr wrap="square" lIns="0" tIns="0" rIns="0" bIns="0" rtlCol="0" anchor="ctr">
            <a:normAutofit/>
          </a:bodyPr>
          <a:lstStyle/>
          <a:p>
            <a:pPr indent="0" marL="0">
              <a:buNone/>
            </a:pPr>
            <a:r>
              <a:rPr lang="en-US" sz="580" dirty="0">
                <a:solidFill>
                  <a:srgbClr val="8C9BAA"/>
                </a:solidFill>
                <a:latin typeface="Aptos" pitchFamily="34" charset="0"/>
                <a:ea typeface="Aptos" pitchFamily="34" charset="-122"/>
                <a:cs typeface="Aptos" pitchFamily="34" charset="-120"/>
              </a:rPr>
              <a:t>User Interface Programming · Week 4</a:t>
            </a:r>
            <a:endParaRPr lang="en-US" sz="580" dirty="0"/>
          </a:p>
        </p:txBody>
      </p:sp>
      <p:sp>
        <p:nvSpPr>
          <p:cNvPr id="7" name="Text 5"/>
          <p:cNvSpPr/>
          <p:nvPr/>
        </p:nvSpPr>
        <p:spPr>
          <a:xfrm>
            <a:off x="11475720" y="6537960"/>
            <a:ext cx="320040" cy="137160"/>
          </a:xfrm>
          <a:prstGeom prst="rect">
            <a:avLst/>
          </a:prstGeom>
          <a:noFill/>
          <a:ln/>
        </p:spPr>
        <p:txBody>
          <a:bodyPr wrap="square" lIns="0" tIns="0" rIns="0" bIns="0" rtlCol="0" anchor="ctr">
            <a:normAutofit/>
          </a:bodyPr>
          <a:lstStyle/>
          <a:p>
            <a:pPr algn="r" indent="0" marL="0">
              <a:buNone/>
            </a:pPr>
            <a:r>
              <a:rPr lang="en-US" sz="580" dirty="0">
                <a:solidFill>
                  <a:srgbClr val="8C9BAA"/>
                </a:solidFill>
                <a:latin typeface="Aptos" pitchFamily="34" charset="0"/>
                <a:ea typeface="Aptos" pitchFamily="34" charset="-122"/>
                <a:cs typeface="Aptos" pitchFamily="34" charset="-120"/>
              </a:rPr>
              <a:t>15</a:t>
            </a:r>
            <a:endParaRPr lang="en-US" sz="580" dirty="0"/>
          </a:p>
        </p:txBody>
      </p:sp>
      <p:sp>
        <p:nvSpPr>
          <p:cNvPr id="8" name="Text 6"/>
          <p:cNvSpPr/>
          <p:nvPr/>
        </p:nvSpPr>
        <p:spPr>
          <a:xfrm>
            <a:off x="777240" y="1783080"/>
            <a:ext cx="5074920" cy="292608"/>
          </a:xfrm>
          <a:prstGeom prst="rect">
            <a:avLst/>
          </a:prstGeom>
          <a:solidFill>
            <a:srgbClr val="FFFFFF"/>
          </a:solidFill>
          <a:ln>
            <a:solidFill>
              <a:srgbClr val="FFFFFF"/>
            </a:solidFill>
          </a:ln>
        </p:spPr>
        <p:txBody>
          <a:bodyPr wrap="square" rtlCol="0" anchor="ctr">
            <a:normAutofit/>
          </a:bodyPr>
          <a:lstStyle/>
          <a:p>
            <a:pPr indent="0" marL="0">
              <a:buNone/>
            </a:pPr>
            <a:r>
              <a:rPr lang="en-US" sz="1100" b="1" dirty="0">
                <a:solidFill>
                  <a:srgbClr val="112E42"/>
                </a:solidFill>
                <a:latin typeface="Aptos" pitchFamily="34" charset="0"/>
                <a:ea typeface="Aptos" pitchFamily="34" charset="-122"/>
                <a:cs typeface="Aptos" pitchFamily="34" charset="-120"/>
              </a:rPr>
              <a:t>Today's key ideas</a:t>
            </a:r>
            <a:endParaRPr lang="en-US" sz="1100" dirty="0"/>
          </a:p>
        </p:txBody>
      </p:sp>
      <p:sp>
        <p:nvSpPr>
          <p:cNvPr id="9" name="Text 7"/>
          <p:cNvSpPr/>
          <p:nvPr/>
        </p:nvSpPr>
        <p:spPr>
          <a:xfrm>
            <a:off x="777240" y="2112264"/>
            <a:ext cx="5074920" cy="2414016"/>
          </a:xfrm>
          <a:prstGeom prst="rect">
            <a:avLst/>
          </a:prstGeom>
          <a:solidFill>
            <a:srgbClr val="FFFFFF"/>
          </a:solidFill>
          <a:ln>
            <a:solidFill>
              <a:srgbClr val="FFFFFF"/>
            </a:solidFill>
          </a:ln>
        </p:spPr>
        <p:txBody>
          <a:bodyPr wrap="square" rtlCol="0" anchor="t">
            <a:normAutofit/>
          </a:bodyPr>
          <a:lstStyle/>
          <a:p>
            <a:pPr indent="0" marL="0">
              <a:buNone/>
            </a:pPr>
            <a:r>
              <a:rPr lang="en-US" sz="920" dirty="0">
                <a:solidFill>
                  <a:srgbClr val="4E5D6B"/>
                </a:solidFill>
                <a:latin typeface="Aptos" pitchFamily="34" charset="0"/>
                <a:ea typeface="Aptos" pitchFamily="34" charset="-122"/>
                <a:cs typeface="Aptos" pitchFamily="34" charset="-120"/>
              </a:rPr>
              <a:t>• Navigation should answer where the user is and where they can go.</a:t>
            </a:r>
            <a:endParaRPr lang="en-US" sz="920" dirty="0"/>
          </a:p>
          <a:p>
            <a:pPr indent="0" marL="0">
              <a:buNone/>
            </a:pPr>
            <a:r>
              <a:rPr lang="en-US" sz="920" dirty="0">
                <a:solidFill>
                  <a:srgbClr val="4E5D6B"/>
                </a:solidFill>
                <a:latin typeface="Aptos" pitchFamily="34" charset="0"/>
                <a:ea typeface="Aptos" pitchFamily="34" charset="-122"/>
                <a:cs typeface="Aptos" pitchFamily="34" charset="-120"/>
              </a:rPr>
              <a:t>• Windows and dialogs organize attention and workflow.</a:t>
            </a:r>
            <a:endParaRPr lang="en-US" sz="920" dirty="0"/>
          </a:p>
          <a:p>
            <a:pPr indent="0" marL="0">
              <a:buNone/>
            </a:pPr>
            <a:r>
              <a:rPr lang="en-US" sz="920" dirty="0">
                <a:solidFill>
                  <a:srgbClr val="4E5D6B"/>
                </a:solidFill>
                <a:latin typeface="Aptos" pitchFamily="34" charset="0"/>
                <a:ea typeface="Aptos" pitchFamily="34" charset="-122"/>
                <a:cs typeface="Aptos" pitchFamily="34" charset="-120"/>
              </a:rPr>
              <a:t>• Controls must match the decision or input type.</a:t>
            </a:r>
            <a:endParaRPr lang="en-US" sz="920" dirty="0"/>
          </a:p>
          <a:p>
            <a:pPr indent="0" marL="0">
              <a:buNone/>
            </a:pPr>
            <a:r>
              <a:rPr lang="en-US" sz="920" dirty="0">
                <a:solidFill>
                  <a:srgbClr val="4E5D6B"/>
                </a:solidFill>
                <a:latin typeface="Aptos" pitchFamily="34" charset="0"/>
                <a:ea typeface="Aptos" pitchFamily="34" charset="-122"/>
                <a:cs typeface="Aptos" pitchFamily="34" charset="-120"/>
              </a:rPr>
              <a:t>• Colour should communicate meaning and hierarchy.</a:t>
            </a:r>
            <a:endParaRPr lang="en-US" sz="920" dirty="0"/>
          </a:p>
          <a:p>
            <a:pPr indent="0" marL="0">
              <a:buNone/>
            </a:pPr>
            <a:r>
              <a:rPr lang="en-US" sz="920" dirty="0">
                <a:solidFill>
                  <a:srgbClr val="4E5D6B"/>
                </a:solidFill>
                <a:latin typeface="Aptos" pitchFamily="34" charset="0"/>
                <a:ea typeface="Aptos" pitchFamily="34" charset="-122"/>
                <a:cs typeface="Aptos" pitchFamily="34" charset="-120"/>
              </a:rPr>
              <a:t>• Visual elements should support scanning, not decoration.</a:t>
            </a:r>
            <a:endParaRPr lang="en-US" sz="920" dirty="0"/>
          </a:p>
        </p:txBody>
      </p:sp>
      <p:sp>
        <p:nvSpPr>
          <p:cNvPr id="10" name="Shape 8"/>
          <p:cNvSpPr/>
          <p:nvPr/>
        </p:nvSpPr>
        <p:spPr>
          <a:xfrm>
            <a:off x="777240" y="2084832"/>
            <a:ext cx="5074920" cy="0"/>
          </a:xfrm>
          <a:prstGeom prst="line">
            <a:avLst/>
          </a:prstGeom>
          <a:noFill/>
          <a:ln w="15240">
            <a:solidFill>
              <a:srgbClr val="2E6FD8">
                <a:alpha val="90000"/>
              </a:srgbClr>
            </a:solidFill>
            <a:prstDash val="solid"/>
          </a:ln>
        </p:spPr>
      </p:sp>
      <p:sp>
        <p:nvSpPr>
          <p:cNvPr id="11" name="Text 9"/>
          <p:cNvSpPr/>
          <p:nvPr/>
        </p:nvSpPr>
        <p:spPr>
          <a:xfrm>
            <a:off x="6309360" y="1783080"/>
            <a:ext cx="5074920" cy="292608"/>
          </a:xfrm>
          <a:prstGeom prst="rect">
            <a:avLst/>
          </a:prstGeom>
          <a:solidFill>
            <a:srgbClr val="DFF1E6"/>
          </a:solidFill>
          <a:ln>
            <a:solidFill>
              <a:srgbClr val="DFF1E6"/>
            </a:solidFill>
          </a:ln>
        </p:spPr>
        <p:txBody>
          <a:bodyPr wrap="square" rtlCol="0" anchor="ctr">
            <a:normAutofit/>
          </a:bodyPr>
          <a:lstStyle/>
          <a:p>
            <a:pPr indent="0" marL="0">
              <a:buNone/>
            </a:pPr>
            <a:r>
              <a:rPr lang="en-US" sz="1100" b="1" dirty="0">
                <a:solidFill>
                  <a:srgbClr val="112E42"/>
                </a:solidFill>
                <a:latin typeface="Aptos" pitchFamily="34" charset="0"/>
                <a:ea typeface="Aptos" pitchFamily="34" charset="-122"/>
                <a:cs typeface="Aptos" pitchFamily="34" charset="-120"/>
              </a:rPr>
              <a:t>Before next class</a:t>
            </a:r>
            <a:endParaRPr lang="en-US" sz="1100" dirty="0"/>
          </a:p>
        </p:txBody>
      </p:sp>
      <p:sp>
        <p:nvSpPr>
          <p:cNvPr id="12" name="Text 10"/>
          <p:cNvSpPr/>
          <p:nvPr/>
        </p:nvSpPr>
        <p:spPr>
          <a:xfrm>
            <a:off x="6309360" y="2112264"/>
            <a:ext cx="5074920" cy="2414016"/>
          </a:xfrm>
          <a:prstGeom prst="rect">
            <a:avLst/>
          </a:prstGeom>
          <a:solidFill>
            <a:srgbClr val="DFF1E6"/>
          </a:solidFill>
          <a:ln>
            <a:solidFill>
              <a:srgbClr val="DFF1E6"/>
            </a:solidFill>
          </a:ln>
        </p:spPr>
        <p:txBody>
          <a:bodyPr wrap="square" rtlCol="0" anchor="t">
            <a:normAutofit/>
          </a:bodyPr>
          <a:lstStyle/>
          <a:p>
            <a:pPr indent="0" marL="0">
              <a:buNone/>
            </a:pPr>
            <a:r>
              <a:rPr lang="en-US" sz="920" dirty="0">
                <a:solidFill>
                  <a:srgbClr val="4E5D6B"/>
                </a:solidFill>
                <a:latin typeface="Aptos" pitchFamily="34" charset="0"/>
                <a:ea typeface="Aptos" pitchFamily="34" charset="-122"/>
                <a:cs typeface="Aptos" pitchFamily="34" charset="-120"/>
              </a:rPr>
              <a:t>• Revise your Project 1 wireframe.</a:t>
            </a:r>
            <a:endParaRPr lang="en-US" sz="920" dirty="0"/>
          </a:p>
          <a:p>
            <a:pPr indent="0" marL="0">
              <a:buNone/>
            </a:pPr>
            <a:r>
              <a:rPr lang="en-US" sz="920" dirty="0">
                <a:solidFill>
                  <a:srgbClr val="4E5D6B"/>
                </a:solidFill>
                <a:latin typeface="Aptos" pitchFamily="34" charset="0"/>
                <a:ea typeface="Aptos" pitchFamily="34" charset="-122"/>
                <a:cs typeface="Aptos" pitchFamily="34" charset="-120"/>
              </a:rPr>
              <a:t>• Add clear navigation and window structure.</a:t>
            </a:r>
            <a:endParaRPr lang="en-US" sz="920" dirty="0"/>
          </a:p>
          <a:p>
            <a:pPr indent="0" marL="0">
              <a:buNone/>
            </a:pPr>
            <a:r>
              <a:rPr lang="en-US" sz="920" dirty="0">
                <a:solidFill>
                  <a:srgbClr val="4E5D6B"/>
                </a:solidFill>
                <a:latin typeface="Aptos" pitchFamily="34" charset="0"/>
                <a:ea typeface="Aptos" pitchFamily="34" charset="-122"/>
                <a:cs typeface="Aptos" pitchFamily="34" charset="-120"/>
              </a:rPr>
              <a:t>• Mark the primary action on each screen.</a:t>
            </a:r>
            <a:endParaRPr lang="en-US" sz="920" dirty="0"/>
          </a:p>
          <a:p>
            <a:pPr indent="0" marL="0">
              <a:buNone/>
            </a:pPr>
            <a:r>
              <a:rPr lang="en-US" sz="920" dirty="0">
                <a:solidFill>
                  <a:srgbClr val="4E5D6B"/>
                </a:solidFill>
                <a:latin typeface="Aptos" pitchFamily="34" charset="0"/>
                <a:ea typeface="Aptos" pitchFamily="34" charset="-122"/>
                <a:cs typeface="Aptos" pitchFamily="34" charset="-120"/>
              </a:rPr>
              <a:t>• Check controls and feedback messages.</a:t>
            </a:r>
            <a:endParaRPr lang="en-US" sz="920" dirty="0"/>
          </a:p>
          <a:p>
            <a:pPr indent="0" marL="0">
              <a:buNone/>
            </a:pPr>
            <a:r>
              <a:rPr lang="en-US" sz="920" dirty="0">
                <a:solidFill>
                  <a:srgbClr val="4E5D6B"/>
                </a:solidFill>
                <a:latin typeface="Aptos" pitchFamily="34" charset="0"/>
                <a:ea typeface="Aptos" pitchFamily="34" charset="-122"/>
                <a:cs typeface="Aptos" pitchFamily="34" charset="-120"/>
              </a:rPr>
              <a:t>• Prepare to discuss your design decisions.</a:t>
            </a:r>
            <a:endParaRPr lang="en-US" sz="920" dirty="0"/>
          </a:p>
        </p:txBody>
      </p:sp>
      <p:sp>
        <p:nvSpPr>
          <p:cNvPr id="13" name="Shape 11"/>
          <p:cNvSpPr/>
          <p:nvPr/>
        </p:nvSpPr>
        <p:spPr>
          <a:xfrm>
            <a:off x="6309360" y="2084832"/>
            <a:ext cx="5074920" cy="0"/>
          </a:xfrm>
          <a:prstGeom prst="line">
            <a:avLst/>
          </a:prstGeom>
          <a:noFill/>
          <a:ln w="15240">
            <a:solidFill>
              <a:srgbClr val="5C8A6B">
                <a:alpha val="90000"/>
              </a:srgbClr>
            </a:solidFill>
            <a:prstDash val="solid"/>
          </a:ln>
        </p:spPr>
      </p:sp>
      <p:sp>
        <p:nvSpPr>
          <p:cNvPr id="14" name="Text 12"/>
          <p:cNvSpPr/>
          <p:nvPr/>
        </p:nvSpPr>
        <p:spPr>
          <a:xfrm>
            <a:off x="1508760" y="5120640"/>
            <a:ext cx="9235440" cy="438912"/>
          </a:xfrm>
          <a:prstGeom prst="rect">
            <a:avLst/>
          </a:prstGeom>
          <a:solidFill>
            <a:srgbClr val="EEF6FF"/>
          </a:solidFill>
          <a:ln>
            <a:solidFill>
              <a:srgbClr val="EEF6FF"/>
            </a:solidFill>
          </a:ln>
        </p:spPr>
        <p:txBody>
          <a:bodyPr wrap="square" rtlCol="0" anchor="ctr">
            <a:normAutofit/>
          </a:bodyPr>
          <a:lstStyle/>
          <a:p>
            <a:pPr algn="ctr" indent="0" marL="0">
              <a:buNone/>
            </a:pPr>
            <a:r>
              <a:rPr lang="en-US" sz="1050" b="1" dirty="0">
                <a:solidFill>
                  <a:srgbClr val="112E42"/>
                </a:solidFill>
                <a:latin typeface="Aptos" pitchFamily="34" charset="0"/>
                <a:ea typeface="Aptos" pitchFamily="34" charset="-122"/>
                <a:cs typeface="Aptos" pitchFamily="34" charset="-120"/>
              </a:rPr>
              <a:t>Next focus: interface layout, device characteristics and responsive decisions.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Klaipėdos Valstybinė Kolegija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Navigation, Windows and Visual Design</dc:title>
  <dc:subject>User Interface Programming - Week 4</dc:subject>
  <dc:creator>Mehmet Akif Cifci</dc:creator>
  <cp:lastModifiedBy>Mehmet Akif Cifci</cp:lastModifiedBy>
  <cp:revision>1</cp:revision>
  <dcterms:created xsi:type="dcterms:W3CDTF">2026-10-02T06:17:41Z</dcterms:created>
  <dcterms:modified xsi:type="dcterms:W3CDTF">2026-10-02T06:17:41Z</dcterms:modified>
</cp:coreProperties>
</file>