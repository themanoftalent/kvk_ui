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938e389b1945c8" /><Relationship Type="http://schemas.openxmlformats.org/officeDocument/2006/relationships/extended-properties" Target="/docProps/app.xml" Id="Rbd855ae4806545c7" /><Relationship Type="http://schemas.openxmlformats.org/officeDocument/2006/relationships/officeDocument" Target="/ppt/presentation.xml" Id="R310a8030fd2d41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9aefc2db024489"/>
  </p:sldMasterIdLst>
  <p:notesMasterIdLst>
    <p:notesMasterId xmlns:r="http://schemas.openxmlformats.org/officeDocument/2006/relationships" r:id="R15fa8a7464bb4256"/>
  </p:notesMasterIdLst>
  <p:sldIdLst>
    <p:sldId xmlns:r="http://schemas.openxmlformats.org/officeDocument/2006/relationships" id="256" r:id="Rf4189b526d014b31"/>
    <p:sldId xmlns:r="http://schemas.openxmlformats.org/officeDocument/2006/relationships" id="257" r:id="Rdec2d169099e493c"/>
    <p:sldId xmlns:r="http://schemas.openxmlformats.org/officeDocument/2006/relationships" id="258" r:id="R54dc1cd763de433d"/>
    <p:sldId xmlns:r="http://schemas.openxmlformats.org/officeDocument/2006/relationships" id="259" r:id="R4e4ef535f8094b56"/>
    <p:sldId xmlns:r="http://schemas.openxmlformats.org/officeDocument/2006/relationships" id="260" r:id="R44beb560a1f04cdd"/>
    <p:sldId xmlns:r="http://schemas.openxmlformats.org/officeDocument/2006/relationships" id="261" r:id="Rd8034d7575d24ea4"/>
    <p:sldId xmlns:r="http://schemas.openxmlformats.org/officeDocument/2006/relationships" id="262" r:id="R314d3419b99a49e9"/>
    <p:sldId xmlns:r="http://schemas.openxmlformats.org/officeDocument/2006/relationships" id="263" r:id="R9e73e3a75dbf4336"/>
    <p:sldId xmlns:r="http://schemas.openxmlformats.org/officeDocument/2006/relationships" id="264" r:id="R7be8bac4c9e74152"/>
    <p:sldId xmlns:r="http://schemas.openxmlformats.org/officeDocument/2006/relationships" id="265" r:id="R479d34e421054c28"/>
    <p:sldId xmlns:r="http://schemas.openxmlformats.org/officeDocument/2006/relationships" id="266" r:id="R0cd17913f94d4142"/>
    <p:sldId xmlns:r="http://schemas.openxmlformats.org/officeDocument/2006/relationships" id="267" r:id="R4f627dd54a0b480c"/>
    <p:sldId xmlns:r="http://schemas.openxmlformats.org/officeDocument/2006/relationships" id="268" r:id="Rf05d0c905eb04307"/>
    <p:sldId xmlns:r="http://schemas.openxmlformats.org/officeDocument/2006/relationships" id="269" r:id="R4ccd8ddf0af9430f"/>
    <p:sldId xmlns:r="http://schemas.openxmlformats.org/officeDocument/2006/relationships" id="270" r:id="Rcbef31acfacb47d2"/>
    <p:sldId xmlns:r="http://schemas.openxmlformats.org/officeDocument/2006/relationships" id="271" r:id="R054ac774ed2447e3"/>
    <p:sldId xmlns:r="http://schemas.openxmlformats.org/officeDocument/2006/relationships" id="272" r:id="Rebafc606d794497f"/>
    <p:sldId xmlns:r="http://schemas.openxmlformats.org/officeDocument/2006/relationships" id="273" r:id="R632e095dc6644c8c"/>
    <p:sldId xmlns:r="http://schemas.openxmlformats.org/officeDocument/2006/relationships" id="274" r:id="Rf54649cea57a40a9"/>
    <p:sldId xmlns:r="http://schemas.openxmlformats.org/officeDocument/2006/relationships" id="275" r:id="R2d8f6a2cdaff4707"/>
    <p:sldId xmlns:r="http://schemas.openxmlformats.org/officeDocument/2006/relationships" id="276" r:id="R5160d4e8c15a46a4"/>
    <p:sldId xmlns:r="http://schemas.openxmlformats.org/officeDocument/2006/relationships" id="277" r:id="R17ca52a4cb254b1e"/>
    <p:sldId xmlns:r="http://schemas.openxmlformats.org/officeDocument/2006/relationships" id="278" r:id="R189f223ca5654fed"/>
    <p:sldId xmlns:r="http://schemas.openxmlformats.org/officeDocument/2006/relationships" id="279" r:id="R0692f615905c49b4"/>
    <p:sldId xmlns:r="http://schemas.openxmlformats.org/officeDocument/2006/relationships" id="280" r:id="Re1a06df9472a472a"/>
    <p:sldId xmlns:r="http://schemas.openxmlformats.org/officeDocument/2006/relationships" id="281" r:id="R0ba9370fa8fa44c8"/>
    <p:sldId xmlns:r="http://schemas.openxmlformats.org/officeDocument/2006/relationships" id="282" r:id="R2e0b1bc780634022"/>
    <p:sldId xmlns:r="http://schemas.openxmlformats.org/officeDocument/2006/relationships" id="283" r:id="R1c160a5b298f49f5"/>
    <p:sldId xmlns:r="http://schemas.openxmlformats.org/officeDocument/2006/relationships" id="284" r:id="R4f7af496fc0245a7"/>
    <p:sldId xmlns:r="http://schemas.openxmlformats.org/officeDocument/2006/relationships" id="285" r:id="R5617633801144264"/>
    <p:sldId xmlns:r="http://schemas.openxmlformats.org/officeDocument/2006/relationships" id="286" r:id="R0f806f008c6942f2"/>
    <p:sldId xmlns:r="http://schemas.openxmlformats.org/officeDocument/2006/relationships" id="287" r:id="R09615c5c75004547"/>
    <p:sldId xmlns:r="http://schemas.openxmlformats.org/officeDocument/2006/relationships" id="288" r:id="R02237410a0b84b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18bd542eed4ae4" /><Relationship Type="http://schemas.openxmlformats.org/officeDocument/2006/relationships/slideMaster" Target="/ppt/slideMasters/slideMaster1.xml" Id="R749aefc2db024489" /><Relationship Type="http://schemas.openxmlformats.org/officeDocument/2006/relationships/notesMaster" Target="/ppt/notesMasters/notesMaster1.xml" Id="R15fa8a7464bb4256" /><Relationship Type="http://schemas.openxmlformats.org/officeDocument/2006/relationships/presProps" Target="/ppt/presProps.xml" Id="Re2d85550dbc44b86" /><Relationship Type="http://schemas.openxmlformats.org/officeDocument/2006/relationships/tableStyles" Target="/ppt/tableStyles.xml" Id="Re6f168391fc74b65" /><Relationship Type="http://schemas.openxmlformats.org/officeDocument/2006/relationships/slide" Target="/ppt/slides/slide1.xml" Id="Rf4189b526d014b31" /><Relationship Type="http://schemas.openxmlformats.org/officeDocument/2006/relationships/slide" Target="/ppt/slides/slide2.xml" Id="Rdec2d169099e493c" /><Relationship Type="http://schemas.openxmlformats.org/officeDocument/2006/relationships/slide" Target="/ppt/slides/slide3.xml" Id="R54dc1cd763de433d" /><Relationship Type="http://schemas.openxmlformats.org/officeDocument/2006/relationships/slide" Target="/ppt/slides/slide4.xml" Id="R4e4ef535f8094b56" /><Relationship Type="http://schemas.openxmlformats.org/officeDocument/2006/relationships/slide" Target="/ppt/slides/slide5.xml" Id="R44beb560a1f04cdd" /><Relationship Type="http://schemas.openxmlformats.org/officeDocument/2006/relationships/slide" Target="/ppt/slides/slide6.xml" Id="Rd8034d7575d24ea4" /><Relationship Type="http://schemas.openxmlformats.org/officeDocument/2006/relationships/slide" Target="/ppt/slides/slide7.xml" Id="R314d3419b99a49e9" /><Relationship Type="http://schemas.openxmlformats.org/officeDocument/2006/relationships/slide" Target="/ppt/slides/slide8.xml" Id="R9e73e3a75dbf4336" /><Relationship Type="http://schemas.openxmlformats.org/officeDocument/2006/relationships/slide" Target="/ppt/slides/slide9.xml" Id="R7be8bac4c9e74152" /><Relationship Type="http://schemas.openxmlformats.org/officeDocument/2006/relationships/slide" Target="/ppt/slides/slide10.xml" Id="R479d34e421054c28" /><Relationship Type="http://schemas.openxmlformats.org/officeDocument/2006/relationships/slide" Target="/ppt/slides/slide11.xml" Id="R0cd17913f94d4142" /><Relationship Type="http://schemas.openxmlformats.org/officeDocument/2006/relationships/slide" Target="/ppt/slides/slide12.xml" Id="R4f627dd54a0b480c" /><Relationship Type="http://schemas.openxmlformats.org/officeDocument/2006/relationships/slide" Target="/ppt/slides/slide13.xml" Id="Rf05d0c905eb04307" /><Relationship Type="http://schemas.openxmlformats.org/officeDocument/2006/relationships/slide" Target="/ppt/slides/slide14.xml" Id="R4ccd8ddf0af9430f" /><Relationship Type="http://schemas.openxmlformats.org/officeDocument/2006/relationships/slide" Target="/ppt/slides/slide15.xml" Id="Rcbef31acfacb47d2" /><Relationship Type="http://schemas.openxmlformats.org/officeDocument/2006/relationships/slide" Target="/ppt/slides/slide16.xml" Id="R054ac774ed2447e3" /><Relationship Type="http://schemas.openxmlformats.org/officeDocument/2006/relationships/slide" Target="/ppt/slides/slide17.xml" Id="Rebafc606d794497f" /><Relationship Type="http://schemas.openxmlformats.org/officeDocument/2006/relationships/slide" Target="/ppt/slides/slide18.xml" Id="R632e095dc6644c8c" /><Relationship Type="http://schemas.openxmlformats.org/officeDocument/2006/relationships/slide" Target="/ppt/slides/slide19.xml" Id="Rf54649cea57a40a9" /><Relationship Type="http://schemas.openxmlformats.org/officeDocument/2006/relationships/slide" Target="/ppt/slides/slide20.xml" Id="R2d8f6a2cdaff4707" /><Relationship Type="http://schemas.openxmlformats.org/officeDocument/2006/relationships/slide" Target="/ppt/slides/slide21.xml" Id="R5160d4e8c15a46a4" /><Relationship Type="http://schemas.openxmlformats.org/officeDocument/2006/relationships/slide" Target="/ppt/slides/slide22.xml" Id="R17ca52a4cb254b1e" /><Relationship Type="http://schemas.openxmlformats.org/officeDocument/2006/relationships/slide" Target="/ppt/slides/slide23.xml" Id="R189f223ca5654fed" /><Relationship Type="http://schemas.openxmlformats.org/officeDocument/2006/relationships/slide" Target="/ppt/slides/slide24.xml" Id="R0692f615905c49b4" /><Relationship Type="http://schemas.openxmlformats.org/officeDocument/2006/relationships/slide" Target="/ppt/slides/slide25.xml" Id="Re1a06df9472a472a" /><Relationship Type="http://schemas.openxmlformats.org/officeDocument/2006/relationships/slide" Target="/ppt/slides/slide26.xml" Id="R0ba9370fa8fa44c8" /><Relationship Type="http://schemas.openxmlformats.org/officeDocument/2006/relationships/slide" Target="/ppt/slides/slide27.xml" Id="R2e0b1bc780634022" /><Relationship Type="http://schemas.openxmlformats.org/officeDocument/2006/relationships/slide" Target="/ppt/slides/slide28.xml" Id="R1c160a5b298f49f5" /><Relationship Type="http://schemas.openxmlformats.org/officeDocument/2006/relationships/slide" Target="/ppt/slides/slide29.xml" Id="R4f7af496fc0245a7" /><Relationship Type="http://schemas.openxmlformats.org/officeDocument/2006/relationships/slide" Target="/ppt/slides/slide30.xml" Id="R5617633801144264" /><Relationship Type="http://schemas.openxmlformats.org/officeDocument/2006/relationships/slide" Target="/ppt/slides/slide31.xml" Id="R0f806f008c6942f2" /><Relationship Type="http://schemas.openxmlformats.org/officeDocument/2006/relationships/slide" Target="/ppt/slides/slide32.xml" Id="R09615c5c75004547" /><Relationship Type="http://schemas.openxmlformats.org/officeDocument/2006/relationships/slide" Target="/ppt/slides/slide33.xml" Id="R02237410a0b84b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ac281b1d5c4f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be6aeb9f5c474e" /><Relationship Type="http://schemas.openxmlformats.org/officeDocument/2006/relationships/notesMaster" Target="/ppt/notesMasters/notesMaster1.xml" Id="R98fc1640300446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d656972c3d44e2" /><Relationship Type="http://schemas.openxmlformats.org/officeDocument/2006/relationships/notesMaster" Target="/ppt/notesMasters/notesMaster1.xml" Id="Ra8e14e3edb9646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fe32d0699048c7" /><Relationship Type="http://schemas.openxmlformats.org/officeDocument/2006/relationships/notesMaster" Target="/ppt/notesMasters/notesMaster1.xml" Id="R41034346762047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28271018924a98" /><Relationship Type="http://schemas.openxmlformats.org/officeDocument/2006/relationships/notesMaster" Target="/ppt/notesMasters/notesMaster1.xml" Id="R69e6f44347e146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b1cf9dd6484977" /><Relationship Type="http://schemas.openxmlformats.org/officeDocument/2006/relationships/notesMaster" Target="/ppt/notesMasters/notesMaster1.xml" Id="Re2b00399d10b41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b3c8dfeec24a35" /><Relationship Type="http://schemas.openxmlformats.org/officeDocument/2006/relationships/notesMaster" Target="/ppt/notesMasters/notesMaster1.xml" Id="R6d14cba03e4142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350d351ccd4616" /><Relationship Type="http://schemas.openxmlformats.org/officeDocument/2006/relationships/notesMaster" Target="/ppt/notesMasters/notesMaster1.xml" Id="Rcc1c9b8ec23643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746ef3008642b5" /><Relationship Type="http://schemas.openxmlformats.org/officeDocument/2006/relationships/notesMaster" Target="/ppt/notesMasters/notesMaster1.xml" Id="Rba9c26f9056145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ff18d11ad24943" /><Relationship Type="http://schemas.openxmlformats.org/officeDocument/2006/relationships/notesMaster" Target="/ppt/notesMasters/notesMaster1.xml" Id="R6d45ddaaff1f44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c695854f6447d8" /><Relationship Type="http://schemas.openxmlformats.org/officeDocument/2006/relationships/notesMaster" Target="/ppt/notesMasters/notesMaster1.xml" Id="Rf67bb05e149a41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445d4b38e449fc" /><Relationship Type="http://schemas.openxmlformats.org/officeDocument/2006/relationships/notesMaster" Target="/ppt/notesMasters/notesMaster1.xml" Id="R3566d5d47bf640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b37765188348a0" /><Relationship Type="http://schemas.openxmlformats.org/officeDocument/2006/relationships/notesMaster" Target="/ppt/notesMasters/notesMaster1.xml" Id="R6d2cd3f1bf1f4a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fc957e2c144054" /><Relationship Type="http://schemas.openxmlformats.org/officeDocument/2006/relationships/notesMaster" Target="/ppt/notesMasters/notesMaster1.xml" Id="R421ab8a2aefd4f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41c14f0d814a60" /><Relationship Type="http://schemas.openxmlformats.org/officeDocument/2006/relationships/notesMaster" Target="/ppt/notesMasters/notesMaster1.xml" Id="Rbb100578e4e145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2b69be6fbe4038" /><Relationship Type="http://schemas.openxmlformats.org/officeDocument/2006/relationships/notesMaster" Target="/ppt/notesMasters/notesMaster1.xml" Id="Rc7a5b43df2f643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d4e84b20df41d3" /><Relationship Type="http://schemas.openxmlformats.org/officeDocument/2006/relationships/notesMaster" Target="/ppt/notesMasters/notesMaster1.xml" Id="R0d52f329a77e49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3119b37f1740b8" /><Relationship Type="http://schemas.openxmlformats.org/officeDocument/2006/relationships/notesMaster" Target="/ppt/notesMasters/notesMaster1.xml" Id="R7d894dbd7df444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5c2666cba84be2" /><Relationship Type="http://schemas.openxmlformats.org/officeDocument/2006/relationships/notesMaster" Target="/ppt/notesMasters/notesMaster1.xml" Id="Readf1020e3594a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076355deee4978" /><Relationship Type="http://schemas.openxmlformats.org/officeDocument/2006/relationships/notesMaster" Target="/ppt/notesMasters/notesMaster1.xml" Id="R99b30c9850db4b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c380a85175415b" /><Relationship Type="http://schemas.openxmlformats.org/officeDocument/2006/relationships/notesMaster" Target="/ppt/notesMasters/notesMaster1.xml" Id="R514e4e0c0f9a48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22b154448f4f6b" /><Relationship Type="http://schemas.openxmlformats.org/officeDocument/2006/relationships/notesMaster" Target="/ppt/notesMasters/notesMaster1.xml" Id="R896ad54c8ba4412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547aa76e80b464d" /><Relationship Type="http://schemas.openxmlformats.org/officeDocument/2006/relationships/notesMaster" Target="/ppt/notesMasters/notesMaster1.xml" Id="Ra17e653634ef470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d39b2110fa0401b" /><Relationship Type="http://schemas.openxmlformats.org/officeDocument/2006/relationships/notesMaster" Target="/ppt/notesMasters/notesMaster1.xml" Id="Rcb701aa8d4fb4f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87e5c66586043c6" /><Relationship Type="http://schemas.openxmlformats.org/officeDocument/2006/relationships/notesMaster" Target="/ppt/notesMasters/notesMaster1.xml" Id="Rf714a3054830450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13df88551694cd0" /><Relationship Type="http://schemas.openxmlformats.org/officeDocument/2006/relationships/notesMaster" Target="/ppt/notesMasters/notesMaster1.xml" Id="Rcfd73e2511ce4b5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ff26dec0a745f7" /><Relationship Type="http://schemas.openxmlformats.org/officeDocument/2006/relationships/notesMaster" Target="/ppt/notesMasters/notesMaster1.xml" Id="R67aca488586c431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5750c19c6a64d3e" /><Relationship Type="http://schemas.openxmlformats.org/officeDocument/2006/relationships/notesMaster" Target="/ppt/notesMasters/notesMaster1.xml" Id="R2217cdb8534b48c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b967e2dc42545b6" /><Relationship Type="http://schemas.openxmlformats.org/officeDocument/2006/relationships/notesMaster" Target="/ppt/notesMasters/notesMaster1.xml" Id="R16a2beeed45d4c5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a3ead80993c47e9" /><Relationship Type="http://schemas.openxmlformats.org/officeDocument/2006/relationships/notesMaster" Target="/ppt/notesMasters/notesMaster1.xml" Id="R8d197c725b2b4d1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a5a7f84b524684" /><Relationship Type="http://schemas.openxmlformats.org/officeDocument/2006/relationships/notesMaster" Target="/ppt/notesMasters/notesMaster1.xml" Id="R1d1db7c0aa91419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3db8f7dacc44d19" /><Relationship Type="http://schemas.openxmlformats.org/officeDocument/2006/relationships/notesMaster" Target="/ppt/notesMasters/notesMaster1.xml" Id="R882a80bdb9fc4d7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5c9c4eeb7b044bc" /><Relationship Type="http://schemas.openxmlformats.org/officeDocument/2006/relationships/notesMaster" Target="/ppt/notesMasters/notesMaster1.xml" Id="Rb196e01c321741f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6c783b6b5554fa4" /><Relationship Type="http://schemas.openxmlformats.org/officeDocument/2006/relationships/notesMaster" Target="/ppt/notesMasters/notesMaster1.xml" Id="R0552c5d0fced42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question: What happens between pressing Enter in a browser and seeing a page?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history brief. Ask students which web application they use most often.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https://developer.mozilla.org/en-US/docs/Learn_web_development/Getting_started/Web_standards/How_the_web_works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https://developer.mozilla.org/en-US/docs/Web/HTTP/Guides/Overview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https://developer.mozilla.org/en-US/docs/Learn_web_development/Getting_started/Web_standards/How_the_web_works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https://developer.mozilla.org/en-US/docs/Learn_web_development/Core/Structuring_content/Basic_HTML_syntax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https://developer.mozilla.org/en-US/docs/Learn_web_development/Core/Styling_basics/What_is_CSS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https://developer.mozilla.org/en-US/docs/Learn_web_development/Core/Scripting/What_is_JavaScript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51b79a0bc4a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bc2a24cf1741ee" /><Relationship Type="http://schemas.openxmlformats.org/officeDocument/2006/relationships/slideLayout" Target="/ppt/slideLayouts/slideLayout1.xml" Id="Rad8d6419a13841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8d6419a13841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0cd13cf3f44cb" /><Relationship Type="http://schemas.openxmlformats.org/officeDocument/2006/relationships/notesSlide" Target="/ppt/notesSlides/notesSlide1.xml" Id="R7c1464fa719542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7de950e404eab" /><Relationship Type="http://schemas.openxmlformats.org/officeDocument/2006/relationships/notesSlide" Target="/ppt/notesSlides/notesSlide2.xml" Id="Rc7c402ef385c4f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cff9be3cc4a65" /><Relationship Type="http://schemas.openxmlformats.org/officeDocument/2006/relationships/notesSlide" Target="/ppt/notesSlides/notesSlide3.xml" Id="R696c113a95c645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14914048742fc" /><Relationship Type="http://schemas.openxmlformats.org/officeDocument/2006/relationships/notesSlide" Target="/ppt/notesSlides/notesSlide4.xml" Id="R38f48521840640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1c2ee40be4d56" /><Relationship Type="http://schemas.openxmlformats.org/officeDocument/2006/relationships/notesSlide" Target="/ppt/notesSlides/notesSlide5.xml" Id="R29c36d225a9547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9726e34e4479b" /><Relationship Type="http://schemas.openxmlformats.org/officeDocument/2006/relationships/notesSlide" Target="/ppt/notesSlides/notesSlide6.xml" Id="Rd55c8af7cc6c4a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10e2d0f894f31" /><Relationship Type="http://schemas.openxmlformats.org/officeDocument/2006/relationships/notesSlide" Target="/ppt/notesSlides/notesSlide7.xml" Id="R587705559f7f40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417656537496c" /><Relationship Type="http://schemas.openxmlformats.org/officeDocument/2006/relationships/notesSlide" Target="/ppt/notesSlides/notesSlide8.xml" Id="Rf533f8f626f84d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10f1ce8ee4af8" /><Relationship Type="http://schemas.openxmlformats.org/officeDocument/2006/relationships/notesSlide" Target="/ppt/notesSlides/notesSlide9.xml" Id="R9f85db05f79d4c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8023fe63e4a0d" /><Relationship Type="http://schemas.openxmlformats.org/officeDocument/2006/relationships/notesSlide" Target="/ppt/notesSlides/notesSlide10.xml" Id="R3ae86133804a40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7489f1eaf42c2" /><Relationship Type="http://schemas.openxmlformats.org/officeDocument/2006/relationships/notesSlide" Target="/ppt/notesSlides/notesSlide11.xml" Id="R4dceb59d02714f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f1d6bd3084769" /><Relationship Type="http://schemas.openxmlformats.org/officeDocument/2006/relationships/notesSlide" Target="/ppt/notesSlides/notesSlide12.xml" Id="R861fe6e172ed4c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1b6dd33b748e0" /><Relationship Type="http://schemas.openxmlformats.org/officeDocument/2006/relationships/notesSlide" Target="/ppt/notesSlides/notesSlide13.xml" Id="Rc02c4547ebd44f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e92809ab64c49" /><Relationship Type="http://schemas.openxmlformats.org/officeDocument/2006/relationships/notesSlide" Target="/ppt/notesSlides/notesSlide14.xml" Id="R0b347f7e804747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0d69b272a418b" /><Relationship Type="http://schemas.openxmlformats.org/officeDocument/2006/relationships/notesSlide" Target="/ppt/notesSlides/notesSlide15.xml" Id="R30480871892f4f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0a37643ee4a31" /><Relationship Type="http://schemas.openxmlformats.org/officeDocument/2006/relationships/notesSlide" Target="/ppt/notesSlides/notesSlide16.xml" Id="Raedb8e8168194a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5bfc6ac8e4ce4" /><Relationship Type="http://schemas.openxmlformats.org/officeDocument/2006/relationships/notesSlide" Target="/ppt/notesSlides/notesSlide17.xml" Id="R3f458fcf628c43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2755338cc45d3" /><Relationship Type="http://schemas.openxmlformats.org/officeDocument/2006/relationships/notesSlide" Target="/ppt/notesSlides/notesSlide18.xml" Id="R64f7acfe0be741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62e44df724113" /><Relationship Type="http://schemas.openxmlformats.org/officeDocument/2006/relationships/notesSlide" Target="/ppt/notesSlides/notesSlide19.xml" Id="R56662e5b49bf46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3d55d76814444" /><Relationship Type="http://schemas.openxmlformats.org/officeDocument/2006/relationships/notesSlide" Target="/ppt/notesSlides/notesSlide20.xml" Id="R0d997b966f8c46d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e8dfc92644218" /><Relationship Type="http://schemas.openxmlformats.org/officeDocument/2006/relationships/notesSlide" Target="/ppt/notesSlides/notesSlide21.xml" Id="Rd8ff818440f64b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154c212fb4301" /><Relationship Type="http://schemas.openxmlformats.org/officeDocument/2006/relationships/notesSlide" Target="/ppt/notesSlides/notesSlide22.xml" Id="R925f347c12e5490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7508138b84d45" /><Relationship Type="http://schemas.openxmlformats.org/officeDocument/2006/relationships/notesSlide" Target="/ppt/notesSlides/notesSlide23.xml" Id="R7bbb871268c04a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65ea131de4348" /><Relationship Type="http://schemas.openxmlformats.org/officeDocument/2006/relationships/notesSlide" Target="/ppt/notesSlides/notesSlide24.xml" Id="R9ad971c1821a416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324e8f8134013" /><Relationship Type="http://schemas.openxmlformats.org/officeDocument/2006/relationships/notesSlide" Target="/ppt/notesSlides/notesSlide25.xml" Id="Rbf17c742408746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7307b08e2442a" /><Relationship Type="http://schemas.openxmlformats.org/officeDocument/2006/relationships/notesSlide" Target="/ppt/notesSlides/notesSlide26.xml" Id="R91226191154544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c3c4125ff491b" /><Relationship Type="http://schemas.openxmlformats.org/officeDocument/2006/relationships/notesSlide" Target="/ppt/notesSlides/notesSlide27.xml" Id="Re48cea6b11a34e8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d6e3a65a84496" /><Relationship Type="http://schemas.openxmlformats.org/officeDocument/2006/relationships/notesSlide" Target="/ppt/notesSlides/notesSlide28.xml" Id="Ra06e0f8186e54d0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10b3cd5b74260" /><Relationship Type="http://schemas.openxmlformats.org/officeDocument/2006/relationships/notesSlide" Target="/ppt/notesSlides/notesSlide29.xml" Id="R67047c6604a24f7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97afb4aac4f31" /><Relationship Type="http://schemas.openxmlformats.org/officeDocument/2006/relationships/notesSlide" Target="/ppt/notesSlides/notesSlide30.xml" Id="Re9ea584bf3de429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0088fb2094953" /><Relationship Type="http://schemas.openxmlformats.org/officeDocument/2006/relationships/notesSlide" Target="/ppt/notesSlides/notesSlide31.xml" Id="R90c1c8935f02476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b1b0b39be4cb8" /><Relationship Type="http://schemas.openxmlformats.org/officeDocument/2006/relationships/notesSlide" Target="/ppt/notesSlides/notesSlide32.xml" Id="R650464b0038a455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fb77ab9bb4c5a" /><Relationship Type="http://schemas.openxmlformats.org/officeDocument/2006/relationships/notesSlide" Target="/ppt/notesSlides/notesSlide33.xml" Id="R5319facaaf3540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88D43-BEDC-4FBE-B86D-52398666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6CB35-BD3B-45A7-B8BA-30143216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B8C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B8CF"/>
                </a:solidFill>
                <a:latin typeface="Arial"/>
                <a:ea typeface="Arial"/>
                <a:cs typeface="Arial"/>
              </a:rPr>
              <a:t>WEB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1952A-E251-4E26-803F-EA61691B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the Web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1AD3E-0CC5-479E-8A7C-5E2238F6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CCCDC"/>
                </a:solidFill>
                <a:latin typeface="Arial"/>
                <a:ea typeface="Arial"/>
                <a:cs typeface="Arial"/>
              </a:rPr>
              <a:t>Week 1 · Internet foundations, HTML, CSS, JavaScript and the development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FA441-0EC4-4D50-9430-4B8FECA8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095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33A13-145D-4E58-B6CA-AE25160D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38575"/>
            <a:ext cx="36385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GET /index.html HTTP/1.1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Host: example.com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HTTP/1.1 200 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3ECAA-2B0D-4D62-A42C-39B0EED8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Assoc. Prof. Dr. Mehmet Akif Cifci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BBC26-A7EC-455F-817B-56EF930F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3C8"/>
                </a:solidFill>
                <a:latin typeface="Arial"/>
                <a:ea typeface="Arial"/>
                <a:cs typeface="Arial"/>
              </a:rPr>
              <a:t>University lecture</a:t>
            </a:r>
          </a:p>
        </p:txBody>
      </p:sp>
    </p:spTree>
    <p:extLst>
      <p:ext uri="{BB962C8B-B14F-4D97-AF65-F5344CB8AC3E}">
        <p14:creationId xmlns:p14="http://schemas.microsoft.com/office/powerpoint/2010/main" val="11440129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BDAB5-10BD-4F1C-88F8-C4F84B5C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6A861-18D1-462E-ABC1-4D20C266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4E616-DBA7-4024-8931-02A8B1C8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D26A2-0C9C-48F6-9563-D8C04180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E1A0B-CE8F-43AB-874A-F3F46348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E3EBE-9749-4454-934F-D6406852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Explain the roles of clients, servers, DNS and HTTP</a:t>
            </a:r>
          </a:p>
          <a:p xmlns:a="http://schemas.openxmlformats.org/drawingml/2006/main">
            <a:pPr algn="l"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Read the main parts of a URL and an HTTP exchange</a:t>
            </a:r>
          </a:p>
          <a:p xmlns:a="http://schemas.openxmlformats.org/drawingml/2006/main">
            <a:pPr algn="l"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Distinguish front-end, back-end and full-stack responsibilities</a:t>
            </a:r>
          </a:p>
          <a:p xmlns:a="http://schemas.openxmlformats.org/drawingml/2006/main">
            <a:pPr algn="l"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Create and connect a small HTML, CSS and JavaScript page</a:t>
            </a:r>
          </a:p>
          <a:p xmlns:a="http://schemas.openxmlformats.org/drawingml/2006/main">
            <a:pPr algn="l">
              <a:defRPr sz="18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Use browser developer tools and a basic Git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59FC3-2D3D-475A-9E04-DD3B933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33830-7AFF-4D6A-94D8-C771E0AC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By the end of class, students can trace one browser request and build a minimal interactive page.</a:t>
            </a:r>
          </a:p>
        </p:txBody>
      </p:sp>
    </p:spTree>
    <p:extLst>
      <p:ext uri="{BB962C8B-B14F-4D97-AF65-F5344CB8AC3E}">
        <p14:creationId xmlns:p14="http://schemas.microsoft.com/office/powerpoint/2010/main" val="800911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EFD53-AB84-4E1E-B999-2707306A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5E6A4-0905-4505-87B3-A0B608FC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11ECC-0EF0-4B10-AB4A-269B50CA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Web programming in one sentence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2D607-D937-4F95-A785-F7BF043A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DECA9-2725-4BA2-B14D-122EF9E7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A5822-267F-4F53-8BA9-C51F4AED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Web programming creates applications that a browser can request, interpret and interact with.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8F52A-E654-421D-BB97-F14B6CA7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A website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9F674-3E28-483E-85A1-69FE9098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Mostly presents linked information. Examples include documentation, portfolios and news pages.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952A4-469D-4E2C-B8DE-33EE5550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A web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74744-5B74-4FB4-A86A-3CB96E47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Manages user input and changing data. Examples include webmail, banking and learning platforms.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1EA9E-EE9C-4C51-BC97-46A895B2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8B227-EEB2-4420-B267-6C4C5D44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boundary is practical, not absolute. Many modern products combine both.</a:t>
            </a:r>
          </a:p>
        </p:txBody>
      </p:sp>
    </p:spTree>
    <p:extLst>
      <p:ext uri="{BB962C8B-B14F-4D97-AF65-F5344CB8AC3E}">
        <p14:creationId xmlns:p14="http://schemas.microsoft.com/office/powerpoint/2010/main" val="562226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FDE84-8E5A-4B98-8CFD-87CEA2CC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0A65B-1928-40B1-AB3E-0BFE9570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944AE-CE1A-4A90-B343-75973713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short history of the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7A180-6CD6-4160-A91B-E1113847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733D3-AC6D-4459-8ABB-24D49981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17C43-0B0A-41EA-8171-D8AD2B6C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F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F00"/>
                </a:solidFill>
                <a:latin typeface="Arial"/>
                <a:ea typeface="Arial"/>
                <a:cs typeface="Arial"/>
              </a:rPr>
              <a:t>1989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F63E2-6434-4FB2-8598-864D156C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859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42A54-C256-4CA6-B91E-877441DD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Tim Berners-Lee proposes the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42714-1B86-4316-B16D-70DC54C2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F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F00"/>
                </a:solidFill>
                <a:latin typeface="Arial"/>
                <a:ea typeface="Arial"/>
                <a:cs typeface="Arial"/>
              </a:rPr>
              <a:t>1991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4432F-6858-4812-9FCD-42C47EF5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84A6A-BD24-4AAC-9928-B48FD124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955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first public website appears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C19C5-4E5E-4BE0-ADE1-3BBC20F7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F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F00"/>
                </a:solidFill>
                <a:latin typeface="Arial"/>
                <a:ea typeface="Arial"/>
                <a:cs typeface="Arial"/>
              </a:rPr>
              <a:t>1995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D3F81-B241-47C9-A087-B0946ABF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48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4C652-3B34-42C5-A0AF-265A0E04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JavaScript reaches browsers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F5CB1-7E16-453D-8BB4-F06FCB53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F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F00"/>
                </a:solidFill>
                <a:latin typeface="Arial"/>
                <a:ea typeface="Arial"/>
                <a:cs typeface="Arial"/>
              </a:rPr>
              <a:t>2004–10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59756-F9EE-4A72-A3CB-E1F1E7FE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2CC62-ED64-4C25-ABCB-56AD2FB9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576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Interactive web applications expand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105AC-76C4-4CFE-A7CA-C1072AEA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F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F00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BACC0-9E8B-4CA6-8531-F9F724E7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FDBF0-30B9-4E1F-86AD-70EB70E8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3870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Web apps run across devices and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766149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327DF-703D-45B5-9AEB-0EB306A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DDB6B-8179-41BC-BF1F-38BBF604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347C8-573D-4CBD-A8F9-2F53FB02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Internet and World Wide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EAE51-6007-4B9D-9385-7F7DAF4D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1F9B3-022F-4159-AB63-98ECC3E0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36199-FB4D-40A5-BF82-840B8B16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18DCE-5738-40CC-A0B4-47E0A8B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Global network infrastructure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Moves packets between connected devices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Supports many services, including email, messaging and the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03351-F960-4C6A-BCB4-16821F4E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World Wide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6B2CE-C0AA-4858-8217-589FE7F9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service that runs on the Internet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Uses URLs, HTTP and browsers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Delivers linked documents and applications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83B28-1E1F-41C3-A934-E6E76241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1EF4F-8C54-441B-9647-017B338A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Internet refers to the network. The Web refers to one information system that uses that network.</a:t>
            </a:r>
          </a:p>
        </p:txBody>
      </p:sp>
    </p:spTree>
    <p:extLst>
      <p:ext uri="{BB962C8B-B14F-4D97-AF65-F5344CB8AC3E}">
        <p14:creationId xmlns:p14="http://schemas.microsoft.com/office/powerpoint/2010/main" val="1218352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285A8E-D9F3-49CC-A4F2-D28C16FF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40D84-F1DA-4B3B-A9FB-6EEF4D1F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8B5E3-BF51-4870-8F6A-4CDB839C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 URL to rendered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04846-1B01-4797-886B-EE89F129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FFA33-A6EF-44B5-809C-1A8A65E5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3BC2B-F5CA-4878-9228-96C3B262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32FAF-D260-45DA-AEB1-8D40258A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  Parse the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0A69C-2BA9-49C7-B048-EAACC2E7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Address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C42A5-D795-4A9A-9A8C-DDFC1FFE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FA138-A39D-4589-9880-1D7499AD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335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2  Resolve the domain with DNS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FE82B-F5CF-48CE-B510-A5602A1F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526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IP address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72270-21A9-41F6-AF28-81D51339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ED6B1-DA85-4B6E-9FF2-9B477D8A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335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3  Open a network connection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5959D-3CD3-41C2-8B6A-525B5E52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526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TCP/TLS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F263E-1DCC-457A-846D-4CAE63B2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973F6-AC65-43ED-9539-5F41A232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35C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35C00"/>
                </a:solidFill>
                <a:latin typeface="Arial"/>
                <a:ea typeface="Arial"/>
                <a:cs typeface="Arial"/>
              </a:rPr>
              <a:t>4  Send an HTTP 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6697A-B74C-4334-BD7C-1F7BC56D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6F421-DF6C-4C95-A373-A36EB7F8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48656-A6D5-446A-9845-3774881A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528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35C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35C00"/>
                </a:solidFill>
                <a:latin typeface="Arial"/>
                <a:ea typeface="Arial"/>
                <a:cs typeface="Arial"/>
              </a:rPr>
              <a:t>5  Receive files and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3F232-8B53-43F6-B0E1-6417E711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71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46566-DB36-45B5-A7FD-D9B6EBC2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B6171-038C-4173-A35A-C42D36AE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528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42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35C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35C00"/>
                </a:solidFill>
                <a:latin typeface="Arial"/>
                <a:ea typeface="Arial"/>
                <a:cs typeface="Arial"/>
              </a:rPr>
              <a:t>6  Build the page in the browser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7C379-0F5A-4759-91CC-DF190109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71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DOM + CSSOM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B35477-B4DB-424D-9E55-9A83BDF4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6B23A-B463-49C2-B1EA-8D0BC37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browser coordinates networking, parsing, layout, painting and JavaScript execution.</a:t>
            </a:r>
          </a:p>
        </p:txBody>
      </p:sp>
    </p:spTree>
    <p:extLst>
      <p:ext uri="{BB962C8B-B14F-4D97-AF65-F5344CB8AC3E}">
        <p14:creationId xmlns:p14="http://schemas.microsoft.com/office/powerpoint/2010/main" val="1425064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C66ED-824C-4863-A14E-AED738FC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EC920-A518-4C40-8F58-8DAEE2BA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FC94D-BA28-4CA6-BA61-8E7B65CC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Client–server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CA517-1479-4B13-844A-2B38A675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04C0D-D8E3-407A-A9B5-35887AD3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DA3C2-0B49-4F07-A25D-618050EE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A5245-59BB-45D9-B6B3-D985A005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506B5-DCF5-4A08-8608-3503E6E8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200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User interface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Local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D7EE8-7794-47A0-8EDD-A936E326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9F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9F00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D9DB1-325B-43CF-A0CE-AE6D4CAA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90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GET /courses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CE41A-53DA-47B5-91D2-D9718F7B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25E8B-E984-4AAE-9EE1-DED29CEA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33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200 OK + 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5B6CB-E389-438B-AA22-762E41B7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BF777-160D-4350-B00C-89641928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24E8F-17B6-483D-891E-C4F35F29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200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Application logic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Database access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Files and APIs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420AC-428D-46AB-B4B9-73002A7B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F03EB-0D2D-42F5-AE97-ADCD5BF8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client initiates requests. A server processes them and returns a response.</a:t>
            </a:r>
          </a:p>
        </p:txBody>
      </p:sp>
    </p:spTree>
    <p:extLst>
      <p:ext uri="{BB962C8B-B14F-4D97-AF65-F5344CB8AC3E}">
        <p14:creationId xmlns:p14="http://schemas.microsoft.com/office/powerpoint/2010/main" val="1624229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B3234-F97E-4354-9A69-15408675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82283-63C0-4BC1-B55A-44F52F79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BED54-30B3-41C6-93DE-D3BB697E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the browser does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FAADD-56E5-420B-B555-6583CE2E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550FA-B7EB-4A44-8463-DA3DECD0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1F6BA-4939-4756-B407-9074F8CE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Core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23AC5-4051-4C00-B8F9-F81908A7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Sends network requests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Parses HTML into the DOM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Applies CSS rules and computes layout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Executes JavaScript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Paints pixels on screen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E3AAE-7026-43A6-AB89-BD9EADA3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Developer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C93C6-D10C-4F49-96BA-9D3C18CC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Elements: inspect HTML and CSS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Console: run JavaScript and view errors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Network: inspect requests and timing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Storage: inspect cookies and local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92BD6-DBF1-4624-B320-4F83CE0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826A4-CD21-402F-9469-9323262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browser is both a runtime environment and a debugging laboratory.</a:t>
            </a:r>
          </a:p>
        </p:txBody>
      </p:sp>
    </p:spTree>
    <p:extLst>
      <p:ext uri="{BB962C8B-B14F-4D97-AF65-F5344CB8AC3E}">
        <p14:creationId xmlns:p14="http://schemas.microsoft.com/office/powerpoint/2010/main" val="5703007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3C4B0-8245-4F19-B97B-0D681556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2E185-8E52-4D84-8F9B-0757C289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CB8E3-F690-4D1D-89D1-63381F3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the web server does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AD1BC-5DF9-4797-AF0F-CF07CC17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C985C-F7E0-443C-BD61-427EAF61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3D60C-7417-4781-8CF1-FA47C8B9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Static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BFADE-F292-4DB7-A6C3-A3A159FB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server returns an existing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Example: /images/logo.png or /about.html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D2AC0-A2E5-4384-8E6B-8716072B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Dynamic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477BB-998B-4BD2-8BF0-94F239F9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Application code generates a response from input or stored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Example: /api/students/42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45437-F7F1-4842-BDAF-9898A0FF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8953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7C03F-2E3C-40FC-9662-B8D7E0F6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05325"/>
            <a:ext cx="84963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Request:  GET /api/students/42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Response: 200 OK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        { "name": "Ada", "year": 2 }</a:t>
            </a:r>
          </a:p>
        </p:txBody>
      </p:sp>
    </p:spTree>
    <p:extLst>
      <p:ext uri="{BB962C8B-B14F-4D97-AF65-F5344CB8AC3E}">
        <p14:creationId xmlns:p14="http://schemas.microsoft.com/office/powerpoint/2010/main" val="20338658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97DB9-D006-4071-AA61-69FEE3E1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824B5-E474-4FF7-AF49-52385F2B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83ABB-632A-4E99-B716-635EF714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HTTP: requests and responses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0D4B6-458B-4F9A-B7C2-70968559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EAF6A-B1DB-4F9B-A11D-57AC66DF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07047-8130-4EED-9BB6-54952306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4953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38F69-1DC9-4B34-B1AA-EFA962FC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838325"/>
            <a:ext cx="4495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GET /courses/web HTTP/1.1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Host: university.example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Accept: text/html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5FB6D-6E11-4E39-ACB9-6F782812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4953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19177-E6C2-4422-97E3-6D5E96F5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38325"/>
            <a:ext cx="4495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HTTP/1.1 200 OK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Content-Type: text/html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Content-Length: 1284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&lt;!doctype html&gt; 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A8A36-2B11-4AF8-A40F-C9FC913D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Request contains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C0176-4E62-4612-B0D6-F49A5FAE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Method, target path, headers and sometimes a body.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2F64B-A2D2-4CE2-9ED1-CAC1785B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Response contains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8140C-1622-41B0-A306-30054F55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Status code, headers and usually a body.</a:t>
            </a:r>
          </a:p>
        </p:txBody>
      </p:sp>
    </p:spTree>
    <p:extLst>
      <p:ext uri="{BB962C8B-B14F-4D97-AF65-F5344CB8AC3E}">
        <p14:creationId xmlns:p14="http://schemas.microsoft.com/office/powerpoint/2010/main" val="8563138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BF383-6822-4C73-A8B2-8FA33270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873DD-0BDA-420E-B5EB-3FDEC963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20004-058E-43E4-8C77-052C3D4D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HTTP methods and status codes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0ABA2-A0F0-48C8-ADB6-A8A348F3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64546-3D5B-404E-8269-A3F9946F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016BF-5E5E-4155-9A2C-0B9449FE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Common methods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A616A-B8D9-4A65-823E-B8DA34FE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GET   Read a resource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POST  Submit new data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PUT   Replace a resource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PATCH Update part of a resource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DELETE Remove a resource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6FCD2-CA2D-45B7-823C-6C144841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Common status codes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84693-B4AE-44C6-9493-BDCA1F70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200  Success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201  Created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301  Permanent redirect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400  Bad request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403  Forbidden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404  Not found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500  Server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5DB8C-58E7-4C8D-A906-6F561116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3B42B-6BEF-4857-A61A-B44A47D7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Methods express the intended action. Status codes summarize the result.</a:t>
            </a:r>
          </a:p>
        </p:txBody>
      </p:sp>
    </p:spTree>
    <p:extLst>
      <p:ext uri="{BB962C8B-B14F-4D97-AF65-F5344CB8AC3E}">
        <p14:creationId xmlns:p14="http://schemas.microsoft.com/office/powerpoint/2010/main" val="16972593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F28A1-6E84-4BCC-BBF2-CEC55988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FFBAF-5E44-428E-83B5-7D4CCA9C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B67CE-54F9-42BD-95C9-8D4DE851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Anatomy of a URL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03723-70A4-47ED-9693-F822A374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6A984-BA9C-4D4A-B6C3-1893C21E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3CD58-2DD4-4F43-851E-10800FBA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10382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4F73D-8685-4698-9DFD-DBF5012A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85950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https://shop.example.com:443/products/42?color=blue#reviews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B8263-C434-4618-BC3B-1FFD382F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rPr>
              <a:t>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A97EB-67DC-4A16-AD30-14F733E8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scheme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4CDA3-3E51-425A-A336-D91E2C3C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43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rPr>
              <a:t>shop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607B0-6E08-4EBA-96BD-51D0AFC1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24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subdomain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C4FA5-ED91-43CF-83ED-972B75E8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rPr>
              <a:t>example.com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F3567-7EAA-407E-9A17-CAA792A8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24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3E717-5CF1-4721-B729-F1ECD613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rPr>
              <a:t>443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AC917-9E44-47F2-895B-B316F499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24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266A1-923C-4325-8C49-EBF841D5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rPr>
              <a:t>/products/42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C1CDD-FF18-4CD8-9E8B-E915D05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73BF1-6CF0-4A84-ABC1-919131E1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43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rPr>
              <a:t>?color=blue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DCE96-464F-40EF-8853-0292304A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24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F8560-5EB5-47C6-819E-E6CAA6FB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769AA"/>
                </a:solidFill>
                <a:latin typeface="Courier New"/>
                <a:ea typeface="Courier New"/>
                <a:cs typeface="Courier New"/>
              </a:rPr>
              <a:t>#reviews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5ADE7-2869-4059-AD73-43F563D9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fragment</a:t>
            </a:r>
          </a:p>
        </p:txBody>
      </p:sp>
    </p:spTree>
    <p:extLst>
      <p:ext uri="{BB962C8B-B14F-4D97-AF65-F5344CB8AC3E}">
        <p14:creationId xmlns:p14="http://schemas.microsoft.com/office/powerpoint/2010/main" val="19931768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931E0-61E6-4122-B10F-14C94211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DB981-A8BA-466C-9EE8-0EF79243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27C35-E6EC-480C-8A66-ACD77295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Front-end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9BAA6-75CE-4926-A73B-09FD6725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0B37E-487F-4F8D-A811-4DF097B9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07431-2916-4281-992A-FA6F58EA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Runs mainly in the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4BD3C-074C-4030-9C86-C34CAB30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HTML describes content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CSS controls appearance and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JavaScript adds behavior and data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B5B6A-6320-47BD-B907-34B88A6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Front-end concerns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74746-BD0E-4162-A250-FD9C07D5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Usability and accessibility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Responsive layouts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Performance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Browser compatibility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E6DE1-7887-45D0-A0A7-E7815287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C2901-B7B5-464A-AAA9-D57DFFE7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Front-end code turns data and content into the interface users experience.</a:t>
            </a:r>
          </a:p>
        </p:txBody>
      </p:sp>
    </p:spTree>
    <p:extLst>
      <p:ext uri="{BB962C8B-B14F-4D97-AF65-F5344CB8AC3E}">
        <p14:creationId xmlns:p14="http://schemas.microsoft.com/office/powerpoint/2010/main" val="8808197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6B1AD-6C1A-438E-B65D-F69A393E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B0B60-3B4B-4903-BAC5-7A5E4F3E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D2EA1-635B-4502-BC31-114039FE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Back-end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1B9A9-B596-4421-ABA0-0BCCAE75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7A0F6-497D-45BB-B41A-1DFA879E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E54FC-AF74-42F0-A2AD-52480885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Runs on servers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BF909-C076-47B9-9F93-A7B86099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Receives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Applies business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Reads and writes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Integrates external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B7E96-C2A0-40EA-B713-900ABE05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Typical technologies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D5F05-8EEB-4F2D-909A-7742F87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Languages: Java, C#, Python, JavaScript, 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Frameworks: Spring, ASP.NET, Django, 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Databases: PostgreSQL, MySQL, MongoDB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15CDA-1735-4CD8-AFBA-40C45401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018BD-FDF5-4A8C-9FE7-A1BB268C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back end protects data and enforces rules that clients must not control.</a:t>
            </a:r>
          </a:p>
        </p:txBody>
      </p:sp>
    </p:spTree>
    <p:extLst>
      <p:ext uri="{BB962C8B-B14F-4D97-AF65-F5344CB8AC3E}">
        <p14:creationId xmlns:p14="http://schemas.microsoft.com/office/powerpoint/2010/main" val="4680390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8BD10-48E5-4CA9-8419-E8D758A6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F7AB8-0FFC-41A9-97D5-24FBE6CC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ABB0B-4662-47DA-B325-2E436B59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Full-stack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B953C-EA16-4232-A1B4-5B4E033B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986ED-66A1-4C85-B39E-70FFE701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A1159-0130-40F2-AB39-8952CA63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full-stack developer works across the browser, server and data layers.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2B480-B34B-4D1B-994C-71DCC953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2857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32104-05AF-4BD7-92CE-F24EA753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95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ECDA7-386D-4349-9C07-F7096D38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67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Interface and interaction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65734-7AB6-4165-8BF3-A061373E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2857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8CA0A-DCEC-48D9-818B-5D4E9172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5C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35C00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7E471-A65B-49D0-8B3A-FFD85D3B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67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Logic and APIs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4F6A9-D65C-4DF3-99C3-1523E679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2857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6FC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0B080-A6FA-4A29-B9DF-A6F436B8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2ED75-E7D6-4BB1-9446-CCDDB48D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67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Persistent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AA194-9DB6-4C59-83DC-7ABAB23A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94BBB-5E02-4AC1-9B0B-25738F99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Full-stack does not mean equal expertise in every technology. It means understanding the complete request path.</a:t>
            </a:r>
          </a:p>
        </p:txBody>
      </p:sp>
    </p:spTree>
    <p:extLst>
      <p:ext uri="{BB962C8B-B14F-4D97-AF65-F5344CB8AC3E}">
        <p14:creationId xmlns:p14="http://schemas.microsoft.com/office/powerpoint/2010/main" val="19118312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64208-056A-41FE-9E19-6137E559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21E1E-62BF-4322-9FC5-C3129E10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8CDD1-E13B-40EE-9711-87C12073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HTML: document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A6C22-B04A-4CF7-9689-09EF53FD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8887A-5A99-431D-BE1E-AB63BD04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3AF5F-D524-436D-9952-C784F2E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6667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135A9-E9CE-4586-BFE2-C07E0F15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95450"/>
            <a:ext cx="6210300" cy="399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&lt;!doctype html&gt;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&lt;html lang="en"&gt;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&lt;head&gt;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&lt;meta charset="utf-8"&gt;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&lt;title&gt;My first page&lt;/title&gt;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&lt;/head&gt;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&lt;body&gt;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&lt;h1&gt;Hello, web&lt;/h1&gt;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&lt;p&gt;This is my first page.&lt;/p&gt;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&lt;/body&gt;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&lt;/html&gt;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AEF22-9854-44AA-9DC3-8F33EC76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2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HTML gives content meaning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98313-8938-4C65-8C42-A7B655F0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048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The head stores metadata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The body contains visible content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Elements use start and end tags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Nesting must remain valid</a:t>
            </a:r>
          </a:p>
        </p:txBody>
      </p:sp>
    </p:spTree>
    <p:extLst>
      <p:ext uri="{BB962C8B-B14F-4D97-AF65-F5344CB8AC3E}">
        <p14:creationId xmlns:p14="http://schemas.microsoft.com/office/powerpoint/2010/main" val="3780170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DE6D2-8BF5-4871-BC56-2FFC2295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8CA26-6CE6-4A81-A211-2732FF60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A7843-0CA8-4BF7-B3E3-84455273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Semantic HTML elements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865AE-AA91-4EFE-8A15-2438A8FB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3CFCF-8D2D-47AB-911D-6C5EDCD4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E8F95-E4E9-474D-B45C-DD08722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Document regions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D51FB-A41E-4783-BC38-DE4ADE4E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&lt;header&gt; introductory content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&lt;nav&gt; navigation links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&lt;main&gt; primary content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&lt;section&gt; thematic group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&lt;footer&gt; closing information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D9416-D1AC-4A1E-8E30-3EDA9329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Content elements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23195-4DAA-42BF-9FED-DBC118DF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&lt;h1&gt;–&lt;h6&gt; headings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&lt;p&gt; paragraph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&lt;a&gt; link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&lt;img&gt; image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&lt;ul&gt;, &lt;ol&gt;, &lt;li&gt; lists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&lt;form&gt; user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22503-E965-419B-A6EE-6A3F1DCA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03301-BCD8-4A99-BB7E-D66DABB1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Choose an element for its meaning first. Styling comes later with CSS.</a:t>
            </a:r>
          </a:p>
        </p:txBody>
      </p:sp>
    </p:spTree>
    <p:extLst>
      <p:ext uri="{BB962C8B-B14F-4D97-AF65-F5344CB8AC3E}">
        <p14:creationId xmlns:p14="http://schemas.microsoft.com/office/powerpoint/2010/main" val="2744802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AB96D-5471-4E86-A700-9C39FF7A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AEFD5-7BC8-470B-8904-489AA7D4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A2184-1BA6-433B-B7A4-E8141E63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HTML attributes and accessibility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B14AB-7A5F-4383-91AE-0B01D309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D2F3A-8328-4557-A92D-4D92FE97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0F0E5-27B4-4D92-ADB8-3BA9C65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628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965CA-58F9-40D7-B46F-6CFE9B25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33575"/>
            <a:ext cx="58293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&lt;img src="campus.jpg"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   alt="Students working in a computer lab"&gt;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&lt;a href="https://developer.mozilla.org/"&gt;MDN Web Docs&lt;/a&gt;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DAE04-9B7F-4230-A536-179147AC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6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Attributes configure elements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4B2B0-66BC-434E-B723-5C8E35B3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333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alt describes meaningful images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href provides the link target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lang identifies document language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Labels must identify form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E6EA2-21A6-4A56-88BC-0F76BA70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A6F64-38D2-4185-89C4-E871A8B2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Accessible HTML improves keyboard use, screen-reader output and code clarity.</a:t>
            </a:r>
          </a:p>
        </p:txBody>
      </p:sp>
    </p:spTree>
    <p:extLst>
      <p:ext uri="{BB962C8B-B14F-4D97-AF65-F5344CB8AC3E}">
        <p14:creationId xmlns:p14="http://schemas.microsoft.com/office/powerpoint/2010/main" val="6740823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0AF8F-A2C0-4F02-86CB-00E967B7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22557-FAAF-465D-A290-9E175300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A0F4-53A7-47C2-BF96-B8F5A191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CSS: presentation and layout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B8630-AB37-4A9A-A18A-FDE36EE2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51084-DE2B-4517-B0EB-9DAD82E2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8D19F-7994-4838-9C0A-981786B3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581025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C368B-A24F-4BAA-B4F1-2FB7AEEC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43075"/>
            <a:ext cx="5353050" cy="351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body {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font-family: Arial, sans-serif;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margin: 0;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color: #243b53;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.hero {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display: grid;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place-items: center;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min-height: 60vh;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D494A-4EC1-4772-9CCE-5F57C965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Rule anatomy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52C67-745E-4CC8-94F5-9A4F98AA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selector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33514-70DF-4B4F-8F8B-46210748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.hero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6089D-477D-42C8-9B58-7FE5DE40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80D33-71CE-4142-8568-3439A46C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display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6D26A-DF00-4F48-ABC4-92103781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5ECD6-0A2D-4826-B1A7-5465D3E4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67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grid</a:t>
            </a:r>
          </a:p>
        </p:txBody>
      </p:sp>
    </p:spTree>
    <p:extLst>
      <p:ext uri="{BB962C8B-B14F-4D97-AF65-F5344CB8AC3E}">
        <p14:creationId xmlns:p14="http://schemas.microsoft.com/office/powerpoint/2010/main" val="5871890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1A27B-2190-415E-A274-FFFA681B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CC178-69EB-4DBD-BB68-2F15F256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FC53B-70EB-48D7-9166-C0BE00B5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cascade and specificity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07665-150F-4F91-9B81-B17B9EBB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98E09-1B92-4C0F-ACEA-92FBD36E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01224-B815-408E-9AB8-B204B6FF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The cascade resolves competing declarations</a:t>
            </a:r>
          </a:p>
          <a:p xmlns:a="http://schemas.openxmlformats.org/drawingml/2006/main">
            <a:pPr algn="l"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Specificity compares how precisely selectors target an element</a:t>
            </a:r>
          </a:p>
          <a:p xmlns:a="http://schemas.openxmlformats.org/drawingml/2006/main">
            <a:pPr algn="l"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Later rules win when origin, importance and specificity are equal</a:t>
            </a:r>
          </a:p>
          <a:p xmlns:a="http://schemas.openxmlformats.org/drawingml/2006/main">
            <a:pPr algn="l"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Inheritance passes selected properties from parent to child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C2F7C-B8CB-456E-9935-8EE61D19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334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090AD-9DDF-4114-8823-E33F88CB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91075"/>
            <a:ext cx="8877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4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p { color: navy; }        /* specificity 0-0-1 */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.note { color: green; }   /* specificity 0-1-0 */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#warning { color: red; }  /* specificity 1-0-0 */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7FBB5-51A7-49C6-AD36-401E5170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6B420-81D3-4C8B-85D6-8C6C9CB7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simple selectors and predictable source order. Avoid fighting the cascade.</a:t>
            </a:r>
          </a:p>
        </p:txBody>
      </p:sp>
    </p:spTree>
    <p:extLst>
      <p:ext uri="{BB962C8B-B14F-4D97-AF65-F5344CB8AC3E}">
        <p14:creationId xmlns:p14="http://schemas.microsoft.com/office/powerpoint/2010/main" val="5063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46F6D-19EF-4985-B262-1EAC1DAE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D7132-396F-40CD-9C0F-77E74E4A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3D4FD-6177-4E4A-8F0D-AB0FABFF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CSS box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5796A-2D35-40FE-9417-5530C9E8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D47E6-25C4-4423-88F6-ED73C040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CD6F2-322F-4DAA-AA5A-D70A773D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14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7612B-6D82-4A55-A783-37095928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049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MARGIN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E439D-DFFC-4FF0-9A2B-5AB9D2A7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52625"/>
            <a:ext cx="7810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E8CC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C1C08-D056-490D-843C-FAE4FF53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288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BORDER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07BC0-2970-4A3F-A627-73B56582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6477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77C3C-1721-4847-A8D6-EB2D18B0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050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PADDING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57152-89B5-4C94-8A11-3EACFCFA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4667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C52CA-71EF-47D0-8693-0DC79CD5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337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6B31D-FCE1-4264-8512-FC6D3592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width × height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6535B-6F66-4BFF-ADDB-592ED1D6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E1B6D-31F6-4210-A4B6-2DC91CD9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 element occupies content space plus padding, border and margin.</a:t>
            </a:r>
          </a:p>
        </p:txBody>
      </p:sp>
    </p:spTree>
    <p:extLst>
      <p:ext uri="{BB962C8B-B14F-4D97-AF65-F5344CB8AC3E}">
        <p14:creationId xmlns:p14="http://schemas.microsoft.com/office/powerpoint/2010/main" val="6930593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588B5-1E73-43D3-9398-8720C7F3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EC8B3-4D81-40F8-A37B-A25AE1D3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ADFBC-6742-46DB-B59C-AF05F43F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JavaScript: behavior and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63574-0AB4-4676-91E7-7D0DEAD2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25321-7FEA-440E-8A79-4D565D4C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3F17E-4C3E-42ED-AA2B-55FF5D1E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685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CF7ED-F1C8-4D58-82DE-A463129D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38325"/>
            <a:ext cx="64008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const button = document.querySelector("#welcome");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const message = document.querySelector("#message");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button.addEventListener("click", () =&gt; {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message.textContent = "Welcome to Web Programming";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});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38E5B-A182-4368-931D-052F2FD1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JavaScript 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00B71-323E-4DCE-B49F-C58042F3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2857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React to user events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Update the DOM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Validate form input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Request data from APIs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Store application state</a:t>
            </a:r>
          </a:p>
        </p:txBody>
      </p:sp>
    </p:spTree>
    <p:extLst>
      <p:ext uri="{BB962C8B-B14F-4D97-AF65-F5344CB8AC3E}">
        <p14:creationId xmlns:p14="http://schemas.microsoft.com/office/powerpoint/2010/main" val="10403738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072F0-18B8-4444-8B7E-BA7DC4C4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482BE-630B-4DA5-9738-128D27FD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1764D-8CF5-42BF-849D-4142514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Programming concepts in JavaScript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B0159-DD55-49D2-A483-A21BD16B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02297-4ADA-46DF-9192-9758C03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13AC7-14FC-4D16-8630-48BD01B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Values and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49633-B458-4AEA-AEDB-4E0381EA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Variables store values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Data types include strings, numbers, booleans, arrays and objects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Conditionals choose which statements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C0340-DF59-41AB-8CE5-A69DA13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Reusable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3EB76-097C-45F0-8950-16CAEF4C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Functions group reusable logic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Loops repeat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Events connect user actions to functions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26323-6F82-4B8F-A66D-865D7F50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533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A19F4-8D69-41A5-91E2-C98AEBAF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81575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91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function grade(score) {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return score &gt;= 60 ? "Pass" : "Fail";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822147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EDB50-4649-4443-96A0-04479418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B8B24-70A6-4065-8044-CCA95FE0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63BC0-AAD2-403A-B659-4702D9F4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Document Object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C622B-0265-42D6-9F4A-7A87DA6E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0C488-ACD8-437D-8008-DDE69AEC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C83CF-37C7-4F79-AC41-895BA2D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HTML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2F867-8BAB-4ACE-A7B3-4B2991D9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37734-0DD8-46F3-AB95-16402395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24003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&lt;main&gt;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&lt;h1&gt;Course&lt;/h1&gt;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  &lt;button&gt;Join&lt;/button&gt;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&lt;/main&gt;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643F1-0F49-4CD4-9170-6FD88A4D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621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DOM tree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F0205-83EF-4A38-AB92-4BD9AA57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document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   └─ html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      └─ body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         └─ main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            ├─ h1</a:t>
            </a:r>
          </a:p>
          <a:p xmlns:a="http://schemas.openxmlformats.org/drawingml/2006/main">
            <a:pPr algn="l">
              <a:def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02A43"/>
                </a:solidFill>
                <a:latin typeface="Courier New"/>
                <a:ea typeface="Courier New"/>
                <a:cs typeface="Courier New"/>
              </a:rPr>
              <a:t>            └─ button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99E75-EF79-47B4-ACD2-7598D8B5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6B8F4-18E1-4D05-9584-7DAD6351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browser converts HTML into a tree of objects that JavaScript can read and change.</a:t>
            </a:r>
          </a:p>
        </p:txBody>
      </p:sp>
    </p:spTree>
    <p:extLst>
      <p:ext uri="{BB962C8B-B14F-4D97-AF65-F5344CB8AC3E}">
        <p14:creationId xmlns:p14="http://schemas.microsoft.com/office/powerpoint/2010/main" val="7901382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A804E-5419-4D9B-862F-32482D08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F7199-0E12-4939-B837-48D60469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AA2BF-7824-4637-86B6-A3E75950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Essential development tools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C83C6-B4E3-4AC4-A69C-42C48440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1EC2C-E06B-4114-80C9-AD994162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242CE-E189-4C72-A4FE-7B1EEEE1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Code editor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111F0-2FCA-4DC1-BB6D-458227D5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Write and navigate source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73EB8-4CFD-4260-8020-623D8585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35D43-CD39-49E6-A93A-3F50519F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Browser DevTools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81B10-53AA-42B1-8432-EFDEF7BC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Inspect, debug and measure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0477E-F9F9-40B0-8219-D9F67088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81154-CCC7-41ED-A031-BA78861D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Terminal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DE6B8-1355-42F8-8B8F-F2DB7D8C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908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Run commands and development servers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B26B7-8FD0-4D19-90EF-CA290A73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80BED-365F-4855-A024-9913C435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Version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EEC0B-12CC-454D-A1CA-282A9986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Record and share changes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12050-4D86-45B9-A365-75CBC7F5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F976B-B6E8-4DC2-A151-616DC802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Package manager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4707E-CAD3-46A1-9BC6-8426D8AD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01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Install project dependencies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E3630-6B33-4C2E-8479-B0532C91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618406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A7A75-7875-477F-A6FB-0FFFC214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8916C-8B07-4D72-8BA2-FF9760BA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A7443-F252-4130-B012-916AE78D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Git in the development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3A2B1-133A-4124-92C0-337C054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17EE7-EA8A-45F8-88C2-B9F41926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4EB2F-65DC-4044-BCD9-59E821B7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5715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37689-B3DE-4838-9FB1-A0ABE51F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38325"/>
            <a:ext cx="5257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git init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git status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git add index.html styles.css app.js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git commit -m "Create first interactive page"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6F4D3-31AB-46F9-81B8-6223BC0F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A useful commit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74DF4-1FB1-4A6B-8F44-620DF28C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810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Contains one coherent change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Uses a specific message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Leaves the project runnable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Avoids generated or secret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6D07E-D772-4041-8769-EEA800E7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8B537-992C-44BB-BA8E-545DBA9B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Git records project history. GitHub or another remote service enables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10490302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58427-C3AA-4147-95ED-9961E4A1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86DB2-16AD-46FC-B606-90624320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42A34-E314-4CD0-9C80-DCBB253F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Responsive web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B3868-5894-4247-961F-804736DD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E8ECC-C61A-4E0A-87F8-F0D64970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373FB-6414-4B52-9EAF-6F2702ED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interface, multiple viewport sizes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98E2F-B893-4B81-8DBC-BD6BF09C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000250" cy="2857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5FFB8-609D-4026-9553-66FDC4FE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05125"/>
            <a:ext cx="16573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3B938-D830-4364-9EC9-35D1A23E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2425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B5D50-E2A3-4F33-928D-5B874115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C1427-16C3-4C65-B353-1E5054EA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375 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AA12B-F761-4EAE-A7C3-5591BFE5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3E8F3-9E62-445D-BBF9-06AA30F1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2514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7347B-DFB4-475C-ADB2-2EE4274A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2514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47D32-D9C4-4ADD-8E3E-BD3FB55D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Tablet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40B36-7D9A-45B7-8C62-9B10D3FC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53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768 px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8F62C-B3D0-48A5-B6E6-F2006DDC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72CD7-D56B-4664-895E-78B2C11B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05125"/>
            <a:ext cx="2514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D9C1A-A4CB-44F1-AA9E-413B1821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24250"/>
            <a:ext cx="2514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D8CCC-67C9-453D-9824-7CDAF9D0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Desktop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76209-363B-4220-AFAE-280E98D9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53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1440 px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52D5A-F16E-4878-9C01-CACBC457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932C2-E47F-4A68-9867-033005B8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Responsive layouts adapt through flexible sizing, modern layout systems and media queries.</a:t>
            </a:r>
          </a:p>
        </p:txBody>
      </p:sp>
    </p:spTree>
    <p:extLst>
      <p:ext uri="{BB962C8B-B14F-4D97-AF65-F5344CB8AC3E}">
        <p14:creationId xmlns:p14="http://schemas.microsoft.com/office/powerpoint/2010/main" val="12158259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F6933-DD0A-4EAE-B707-ABF660F4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DCB5D-7063-42C9-B9E7-1B34E1AC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97BBC-2A00-4668-8746-0F9E3E6D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Web security fundamentals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00A92-8052-4B7E-9110-1D5151CA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F20DD-1B89-49F7-8B8C-6CC9A03A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3A156-FF4B-4934-8C84-9ED557DD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Main principles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B0118-456E-4E02-9309-45C46A0D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Validate all input on the server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Escape output to prevent injection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 HTTPS for data in transit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Grant only necessary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E8780-0679-4034-8B40-70A4FF0C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Common risks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B4377-0CAF-4C02-AB5D-7CE12025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Cross-site scripting (XSS)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SQL injection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Weak authentication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Exposed secrets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Unsafe dependencies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C3B14-B07C-434F-98E8-38F1B9B7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9C64E-E175-4A9E-AF1C-695798D0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Never trust input merely because it came from your own interface.</a:t>
            </a:r>
          </a:p>
        </p:txBody>
      </p:sp>
    </p:spTree>
    <p:extLst>
      <p:ext uri="{BB962C8B-B14F-4D97-AF65-F5344CB8AC3E}">
        <p14:creationId xmlns:p14="http://schemas.microsoft.com/office/powerpoint/2010/main" val="2629777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47BE2-45DB-4E1F-B388-868D4DD4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DDB72-9DB0-4A20-B5C8-FCCDA4B7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3A019-7FE4-4A4B-8121-480FFDE6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Databases in web applications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49DE9-FFC3-44EC-8EA9-2E0DDD24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76C16-318A-4758-9EC7-1F4B93DB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24408-4985-41FA-9209-1E062F28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Create account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1320A-0AB3-49C8-9595-27699D5B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9F0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F59F00"/>
                </a:solidFill>
                <a:latin typeface="Courier New"/>
                <a:ea typeface="Courier New"/>
                <a:cs typeface="Courier New"/>
              </a:rPr>
              <a:t>POST /users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5B21F-671F-4A07-97B3-31BE58BF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9E44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2F9E44"/>
                </a:solidFill>
                <a:latin typeface="Courier New"/>
                <a:ea typeface="Courier New"/>
                <a:cs typeface="Courier New"/>
              </a:rPr>
              <a:t>INSERT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FC0C2-CC4F-4804-8D16-12BBCC41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Saved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71AC2-A078-4FE3-B5CC-FA913226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CB55C-120B-4332-A6D8-95920090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Relational databases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90C1E-54D1-40C3-8873-96FDA1E3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Structured tables and relationships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Examples: PostgreSQL and MySQL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Use SQL for queries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453F5-171B-456A-AC2A-9F14658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Document databases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34607-D724-407F-BF72-B09AA3A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JSON-like documents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Example: MongoDB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Flexible records, but schema design still matters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521EE-C778-4CF9-B00E-85EFEA1E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10A6B-4375-4C09-B941-A0193C4B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server mediates database access. Browser code should not connect directly to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726273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EF8B4-FF63-4C7E-B29B-8004DE96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7563F-A171-4A97-886F-97E18032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328FF-086B-465D-AB56-5AF572B5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Modern web application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D0AE7-3B0D-4FA1-A481-06FCE990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3B6AF-5933-43D2-990D-46AE5D13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054E2-5532-4D9C-8479-84CF4F52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3810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F6652-9373-413F-948E-E6275CA4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85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9E346-83F2-4C79-8E0E-D3EA6CEC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24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HTML, CSS, 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0C2B3-4F82-474B-ACB5-B8FAC6B4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3810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E7EFF-C5A1-48F3-88D9-B812A7BB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65FB0-E4C3-4027-A0A8-2ED8C132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Application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10DAA-4ED9-4320-BF17-B129907C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810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334DC-CF15-41EB-A228-74D0F306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CEEF0-852A-41B6-911E-86A69E89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Persistent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CFB1B-02C0-4A72-BCFA-EE97D5C9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810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47354-9408-4A00-B68C-96D12B34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81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External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1D453-AAC7-48E1-86A3-498B1349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9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Payments or email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A9FF5-EBCE-4F68-A473-302AACD3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F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9F00"/>
                </a:solidFill>
                <a:latin typeface="Arial"/>
                <a:ea typeface="Arial"/>
                <a:cs typeface="Arial"/>
              </a:rPr>
              <a:t>HTTP / 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0A0C2-C696-47F4-8CA6-3EDD0A5B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910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queries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764B1-D389-481B-87C0-440CAF7F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0F250-E130-46BC-AF80-84103F80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Clear boundaries make systems easier to test, secure and change.</a:t>
            </a:r>
          </a:p>
        </p:txBody>
      </p:sp>
    </p:spTree>
    <p:extLst>
      <p:ext uri="{BB962C8B-B14F-4D97-AF65-F5344CB8AC3E}">
        <p14:creationId xmlns:p14="http://schemas.microsoft.com/office/powerpoint/2010/main" val="177401619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66EC09-7F53-49B8-9828-57BEAB93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EE721-5B63-4349-90C9-5F9D2DFD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6E077-7CF6-494A-AC71-19533E0B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practical development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F351E-E5B4-4DEE-B602-411C2DF1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3020E-FE6A-4EEB-B35E-3DB11899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E49EB-2449-48E2-AD50-CD6AFA72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9ECD3-C8A3-4972-9304-FCD6AEA5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BA1E7-F8D3-4846-89D9-B0D215B2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192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02DF1-D6E4-48C5-A89C-C9A8CC55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02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Define user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87237-E281-4064-8AC3-862E2985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28B4C-177B-4013-BDC0-2A815790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5BC74-0D7D-4771-BB83-46DC4ED3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192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08FC9-D377-44B9-83DF-46321493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Write semantic 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9CC34-FE86-46C3-849D-9D439E20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F5D15-35A8-4AB1-957B-1A2FBD00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ED9F4-0E93-4193-8729-068E266A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192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Style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BC184-2F55-432E-9BDD-E848A64B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002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Apply CSS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190E4-5D45-4F43-A662-51440E51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0BA8E-1915-4C9F-98E9-80DD21D2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13500-DBEA-4EE0-9121-52515BCA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290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Program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E0F1A-7C67-4A36-AA5F-F5F7DE1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Add JavaScript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BEB55E-1FB5-49FB-8B91-D53E88A3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C0943-1FB6-4A33-84E3-8BDDD2C1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F8EC9-9EBE-4D0B-B388-A353CA3F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BC63AD-0F3B-4FB5-BE00-E01755C5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100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Inspect and debug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3D9BA-604E-492F-BB8C-41D39750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84631A-C667-49A6-860A-3456C8C6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F1D8F8-79FD-4716-9BEA-11129AEE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290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0FEC38-0641-4546-91E0-CAB5D6D5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100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Deploy and monitor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977213-504D-4DF1-8B2E-96CE89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54351B-0CCB-4F8B-96B8-0EBA5510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Small iterations expose mistakes earlier and make progress visible.</a:t>
            </a:r>
          </a:p>
        </p:txBody>
      </p:sp>
    </p:spTree>
    <p:extLst>
      <p:ext uri="{BB962C8B-B14F-4D97-AF65-F5344CB8AC3E}">
        <p14:creationId xmlns:p14="http://schemas.microsoft.com/office/powerpoint/2010/main" val="6292886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6DCEC-E4E8-48EC-9356-ABC91573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A693B-3468-4592-A9B6-7C4D5CC3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32CD0-D0D8-4498-A516-52F70926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Week 1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C9B4C-1AFA-482B-BDE6-BFC32D89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C3FE9-984D-452F-B63E-5C9D1ECE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CD79D-EFD0-423F-A615-9BD09D43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2870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The Web uses Internet infrastructure, DNS, URLs and HTTP</a:t>
            </a:r>
          </a:p>
          <a:p xmlns:a="http://schemas.openxmlformats.org/drawingml/2006/main">
            <a:pPr algn="l"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Browsers request resources and render HTML, CSS and JavaScript</a:t>
            </a:r>
          </a:p>
          <a:p xmlns:a="http://schemas.openxmlformats.org/drawingml/2006/main">
            <a:pPr algn="l"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Front-end code manages the interface; back-end code manages logic and data</a:t>
            </a:r>
          </a:p>
          <a:p xmlns:a="http://schemas.openxmlformats.org/drawingml/2006/main">
            <a:pPr algn="l"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Semantic HTML, predictable CSS and small JavaScript functions create a strong foundation</a:t>
            </a:r>
          </a:p>
          <a:p xmlns:a="http://schemas.openxmlformats.org/drawingml/2006/main">
            <a:pPr algn="l"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Developer tools and Git support testing and controlled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1F11F-A842-482D-858A-5F5AB88B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FCF08-5E71-420F-92CE-22753B8A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 step: build one page and observe every request in the Network panel.</a:t>
            </a:r>
          </a:p>
        </p:txBody>
      </p:sp>
    </p:spTree>
    <p:extLst>
      <p:ext uri="{BB962C8B-B14F-4D97-AF65-F5344CB8AC3E}">
        <p14:creationId xmlns:p14="http://schemas.microsoft.com/office/powerpoint/2010/main" val="175692551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28F7C-538D-49F5-98C4-7CF47349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1A9C4-DAF6-43DA-AE2B-75B83243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454BE-B090-4B96-89DF-4EA98350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In-class practice: first interactive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DDE2A-B3BA-4619-8404-84C7F53E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5C3D3-62D2-4E03-B1E3-B96302B1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D8E1E-62C5-4EC4-A2C3-0B0938C0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6D478-D975-4696-9607-6853990D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5238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Create index.html with a heading, paragraph and button</a:t>
            </a:r>
          </a:p>
          <a:p xmlns:a="http://schemas.openxmlformats.org/drawingml/2006/main">
            <a:pPr algn="l"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Create styles.css and add a readable layout</a:t>
            </a:r>
          </a:p>
          <a:p xmlns:a="http://schemas.openxmlformats.org/drawingml/2006/main">
            <a:pPr algn="l"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Create app.js and change the paragraph when the button is clicked</a:t>
            </a:r>
          </a:p>
          <a:p xmlns:a="http://schemas.openxmlformats.org/drawingml/2006/main">
            <a:pPr algn="l"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Open DevTools and find the three downloaded files</a:t>
            </a:r>
          </a:p>
          <a:p xmlns:a="http://schemas.openxmlformats.org/drawingml/2006/main">
            <a:pPr algn="l"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• Commit the result with Git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B49CB-6F26-4F5F-914E-ACDFB5CA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905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403B7-71B7-4D9C-BFE6-B9E6255F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34480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project/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├── index.html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├── styles.css</a:t>
            </a:r>
          </a:p>
          <a:p xmlns:a="http://schemas.openxmlformats.org/drawingml/2006/main">
            <a:pPr algn="l">
              <a:def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6FFFA"/>
                </a:solidFill>
                <a:latin typeface="Courier New"/>
                <a:ea typeface="Courier New"/>
                <a:cs typeface="Courier New"/>
              </a:rPr>
              <a:t>└── app.js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19873-5FFD-4E82-A5E4-110592E0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9E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Success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8FB63-DFDD-4A34-8564-DF4EF628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page loads without console errors, the button works, and Git reports a clean working tree.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B6C42-7DCD-4E3C-AC83-FE3753B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F8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2AFD2-AB10-4693-A8C2-1484F5E1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Suggested time: 25 minutes. Work individually first, then compare solutions in pairs.</a:t>
            </a:r>
          </a:p>
        </p:txBody>
      </p:sp>
    </p:spTree>
    <p:extLst>
      <p:ext uri="{BB962C8B-B14F-4D97-AF65-F5344CB8AC3E}">
        <p14:creationId xmlns:p14="http://schemas.microsoft.com/office/powerpoint/2010/main" val="1266264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2026-09-16T12:45:25.3930000Z</dcterms:created>
  <dcterms:modified xsi:type="dcterms:W3CDTF">2026-09-16T12:45:25.3930000Z</dcterms:modified>
</coreProperties>
</file>